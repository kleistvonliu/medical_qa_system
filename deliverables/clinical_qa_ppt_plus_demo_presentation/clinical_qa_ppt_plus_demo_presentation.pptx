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frame this as an implemented MVP, not just a whiteboard architecture exercise.
The system takes a clinical question, retrieves live evidence from ClinicalTrials.gov and PubMed, normalizes and reranks that evidence, and then uses an LLM to produce a grounded answer with citations and a pipeline trace.
So in this walkthrough, I’m going to focus on four things: how I would structure the backend, how I query these two sources differently, how I surface accurate cited answers, and what tradeoffs I made along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were designing this backend from scratch, I would separate orchestration from source-specific retrieval logic.
The HTTP layer should stay thin and mostly handle schemas, dependency wiring, and lifecycle concerns.
Then I would have one orchestration service that owns the end-to-end QA flow, separate services for ClinicalTrials.gov and PubMed, a provider-neutral LLM layer, and a separate cache layer.
The reason is that these are different responsibilities with different failure modes.
And that is basically how this repo is structured today. It is not one giant function. Retrieval, reranking, generation, validation, and caching are split into separate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API side, I would keep the main question-answering endpoint very simple.
It should take the question, a small set of filters, and an evidence budget like max sources.
Then I would separate source detail into a dedicated endpoint, because citation drill-down is important, but I do not want to overload the main response.
I also like having a real health endpoint, not just a ping endpoint, so I can expose provider readiness and cache state.
The other important design choice here is observability. In clinical QA, it is not enough to return an answer. You also need to understand why the system answered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ClinicalTrials.gov, I would not treat it like a generic search engine.
I would translate the question into trial-registry semantics, especially condition, intervention, and status intent.
So instead of sending the raw sentence, I try to populate fields like query.cond and query.intr, and I only fall back to a looser query.term when needed.
Status-aware planning is especially important. A recruiting-trials question is really a structured filtering problem, not just a keyword problem.
In fact, one real bug I fixed in this repo was exactly in this area. If you retrieve too few trials first and filter for recruiting afterward, you can miss the true recruiting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PubMed is a very different retrieval problem, so I would not force it into the same abstraction as trial registry search.
Here I build a PubMed-style query from condition, intervention, population, and outcome intent, and I express that mostly as Title and Abstract clauses.
Then I use a three-step path: esearch to get candidate PMIDs, esummary for metadata, and efetch for abstract text.
That gives me a lightweight but reliable literature pipeline.
The limitation I would state very clearly is that this MVP is mostly abstract-grounded, not full-text-grounded. I think being explicit about that is better than overstating the depth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approach is not to trust the model first and ask for citations later.
I do the opposite. I first build a bounded evidence window, and then I ask the model to synthesize only from that evidence.
In this repo, the evidence is normalized into snippets, reranked, and then passed into a structured answer step rather than a free-form generation step.
The model has to return citation IDs, and those citation IDs are validated against the retrieved snippets.
If the citations do not validate, the system retries, and if support is still weak, it falls back to a conservative extractive answer.
That fallback matters, because in a clinical setting, a conservative supported answer is usually better than a polished but unsupported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 trust is not only a backend problem. It is also a presentation problem.
I want the user to see the direct answer, the supporting evidence, the limitations, and the citations as separate things.
That is why the UI has a dedicated limitations section instead of hiding uncertainty inside one answer paragraph.
I also do not treat citations as simple links. The source drawer lets the user inspect cached metadata and the available snippets behind each citation.
And the pipeline trace makes the system less of a black box, which I think is especially important for medical or clinical use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were just an interview question, I would not give the easy answer of saying I would immediately add offline ingestion, a vector database, full-text pipelines, and an agent framework.
I think the stronger answer is knowing what to add later and what not to add too early.
For this MVP, I deliberately prioritized source-aware retrieval, grounded synthesis, citation validity, and debuggability over infrastructure complexity.
So the main tradeoff is simplicity versus scale.
I chose the simpler design because the early risk in clinical QA is usually not lack of infrastructure. It is wrong routing, weak grounding, and poor transparency.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keep the live demo very simple.
I would start with a trials-first question, because it makes route choice and structured registry retrieval easiest to explain.
Then I would click into a citation and open the source drawer, so the audience can see that the system exposes the evidence behind the answer.
After that, I would open the pipeline trace and connect what the UI shows back to the backend stages.
That is usually enough. I would avoid jumping around too many files or trying to demo every possible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had another week, I would not spend it polishing the UI first.
I would focus on three things.
First, stronger offline indexing to improve latency, recall, and observability.
Second, layered evaluation, so I am not only judging the final answer, but also route quality, retrieval quality, snippet relevance, and citation validity.
Third, better planning for blended questions, because the hardest case right now is not a single-source question. It is synthesizing trial evidence and published literature together in a balanced way.
If I had to summarize the design in one sentence, it would be this: the model is not the source of truth, the retrieved evidence is.
So most of my design decisions are really about making retrieval more source-aware, keeping the evidence window bounded, validating citations, and making the whole system inspectable.
That is the bar I would want for any clinical QA product, even at the MVP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5EF"/>
          </a:solidFill>
          <a:ln w="12700">
            <a:solidFill>
              <a:srgbClr val="F7F5EF"/>
            </a:solidFill>
            <a:prstDash val="solid"/>
          </a:ln>
        </p:spPr>
      </p:sp>
      <p:sp>
        <p:nvSpPr>
          <p:cNvPr id="3" name="Shape 1"/>
          <p:cNvSpPr/>
          <p:nvPr/>
        </p:nvSpPr>
        <p:spPr>
          <a:xfrm>
            <a:off x="658368" y="585216"/>
            <a:ext cx="1042416" cy="73152"/>
          </a:xfrm>
          <a:prstGeom prst="roundRect">
            <a:avLst>
              <a:gd name="adj" fmla="val 50000"/>
            </a:avLst>
          </a:prstGeom>
          <a:solidFill>
            <a:srgbClr val="0F766E"/>
          </a:solidFill>
          <a:ln w="12700">
            <a:solidFill>
              <a:srgbClr val="0F766E">
                <a:alpha val="0"/>
              </a:srgbClr>
            </a:solidFill>
            <a:prstDash val="solid"/>
          </a:ln>
        </p:spPr>
      </p:sp>
      <p:sp>
        <p:nvSpPr>
          <p:cNvPr id="4" name="Text 2"/>
          <p:cNvSpPr/>
          <p:nvPr/>
        </p:nvSpPr>
        <p:spPr>
          <a:xfrm>
            <a:off x="713232" y="749808"/>
            <a:ext cx="2468880" cy="182880"/>
          </a:xfrm>
          <a:prstGeom prst="rect">
            <a:avLst/>
          </a:prstGeom>
          <a:noFill/>
          <a:ln/>
        </p:spPr>
        <p:txBody>
          <a:bodyPr wrap="square" lIns="0" tIns="0" rIns="0" bIns="0" rtlCol="0" anchor="ctr"/>
          <a:lstStyle/>
          <a:p>
            <a:pPr indent="0" marL="0">
              <a:buNone/>
            </a:pPr>
            <a:r>
              <a:rPr lang="en-US" sz="900" b="1" dirty="0">
                <a:solidFill>
                  <a:srgbClr val="0F766E"/>
                </a:solidFill>
                <a:latin typeface="Lato" pitchFamily="34" charset="0"/>
                <a:ea typeface="Lato" pitchFamily="34" charset="-122"/>
                <a:cs typeface="Lato" pitchFamily="34" charset="-120"/>
              </a:rPr>
              <a:t>INTERVIEW WALKTHROUGH</a:t>
            </a:r>
            <a:endParaRPr lang="en-US" sz="900" dirty="0"/>
          </a:p>
        </p:txBody>
      </p:sp>
      <p:sp>
        <p:nvSpPr>
          <p:cNvPr id="5" name="Text 3"/>
          <p:cNvSpPr/>
          <p:nvPr/>
        </p:nvSpPr>
        <p:spPr>
          <a:xfrm>
            <a:off x="713232" y="1024128"/>
            <a:ext cx="5980176" cy="1024128"/>
          </a:xfrm>
          <a:prstGeom prst="rect">
            <a:avLst/>
          </a:prstGeom>
          <a:noFill/>
          <a:ln/>
        </p:spPr>
        <p:txBody>
          <a:bodyPr wrap="square" lIns="0" tIns="0" rIns="0" bIns="0" rtlCol="0" anchor="ctr"/>
          <a:lstStyle/>
          <a:p>
            <a:pPr indent="0" marL="0">
              <a:buNone/>
            </a:pPr>
            <a:r>
              <a:rPr lang="en-US" sz="2719" b="1" dirty="0">
                <a:solidFill>
                  <a:srgbClr val="111827"/>
                </a:solidFill>
              </a:rPr>
              <a:t>Clinical QA MVP: Grounded Answers over ClinicalTrials.gov and PubMed</a:t>
            </a:r>
            <a:endParaRPr lang="en-US" sz="2719" dirty="0"/>
          </a:p>
        </p:txBody>
      </p:sp>
      <p:sp>
        <p:nvSpPr>
          <p:cNvPr id="6" name="Text 4"/>
          <p:cNvSpPr/>
          <p:nvPr/>
        </p:nvSpPr>
        <p:spPr>
          <a:xfrm>
            <a:off x="749808" y="2212848"/>
            <a:ext cx="5669280" cy="512064"/>
          </a:xfrm>
          <a:prstGeom prst="rect">
            <a:avLst/>
          </a:prstGeom>
          <a:noFill/>
          <a:ln/>
        </p:spPr>
        <p:txBody>
          <a:bodyPr wrap="square" lIns="0" tIns="0" rIns="0" bIns="0" rtlCol="0" anchor="ctr"/>
          <a:lstStyle/>
          <a:p>
            <a:pPr indent="0" marL="0">
              <a:buNone/>
            </a:pPr>
            <a:r>
              <a:rPr lang="en-US" sz="1250" dirty="0">
                <a:solidFill>
                  <a:srgbClr val="334155"/>
                </a:solidFill>
              </a:rPr>
              <a:t>An interview-ready deck for explaining backend architecture, source-aware query design, grounded answers, and tradeoffs through both slides and live code.</a:t>
            </a:r>
            <a:endParaRPr lang="en-US" sz="1250" dirty="0"/>
          </a:p>
        </p:txBody>
      </p:sp>
      <p:sp>
        <p:nvSpPr>
          <p:cNvPr id="7" name="Shape 5"/>
          <p:cNvSpPr/>
          <p:nvPr/>
        </p:nvSpPr>
        <p:spPr>
          <a:xfrm>
            <a:off x="768096" y="2889504"/>
            <a:ext cx="1444752" cy="292608"/>
          </a:xfrm>
          <a:prstGeom prst="roundRect">
            <a:avLst>
              <a:gd name="adj" fmla="val 37500"/>
            </a:avLst>
          </a:prstGeom>
          <a:solidFill>
            <a:srgbClr val="DFF6F2"/>
          </a:solidFill>
          <a:ln w="12700">
            <a:solidFill>
              <a:srgbClr val="DFF6F2"/>
            </a:solidFill>
            <a:prstDash val="solid"/>
          </a:ln>
        </p:spPr>
      </p:sp>
      <p:sp>
        <p:nvSpPr>
          <p:cNvPr id="8" name="Text 6"/>
          <p:cNvSpPr/>
          <p:nvPr/>
        </p:nvSpPr>
        <p:spPr>
          <a:xfrm>
            <a:off x="768096" y="2921508"/>
            <a:ext cx="1444752" cy="164592"/>
          </a:xfrm>
          <a:prstGeom prst="rect">
            <a:avLst/>
          </a:prstGeom>
          <a:noFill/>
          <a:ln/>
        </p:spPr>
        <p:txBody>
          <a:bodyPr wrap="square" lIns="0" tIns="0" rIns="0" bIns="0" rtlCol="0" anchor="ctr"/>
          <a:lstStyle/>
          <a:p>
            <a:pPr algn="ctr" indent="0" marL="0">
              <a:buNone/>
            </a:pPr>
            <a:r>
              <a:rPr lang="en-US" sz="950" b="1" dirty="0">
                <a:solidFill>
                  <a:srgbClr val="115E59"/>
                </a:solidFill>
                <a:latin typeface="Lato" pitchFamily="34" charset="0"/>
                <a:ea typeface="Lato" pitchFamily="34" charset="-122"/>
                <a:cs typeface="Lato" pitchFamily="34" charset="-120"/>
              </a:rPr>
              <a:t>30-minute flow</a:t>
            </a:r>
            <a:endParaRPr lang="en-US" sz="950" dirty="0"/>
          </a:p>
        </p:txBody>
      </p:sp>
      <p:sp>
        <p:nvSpPr>
          <p:cNvPr id="9" name="Shape 7"/>
          <p:cNvSpPr/>
          <p:nvPr/>
        </p:nvSpPr>
        <p:spPr>
          <a:xfrm>
            <a:off x="2340864" y="2889504"/>
            <a:ext cx="1572768" cy="292608"/>
          </a:xfrm>
          <a:prstGeom prst="roundRect">
            <a:avLst>
              <a:gd name="adj" fmla="val 37500"/>
            </a:avLst>
          </a:prstGeom>
          <a:solidFill>
            <a:srgbClr val="E6F0FF"/>
          </a:solidFill>
          <a:ln w="12700">
            <a:solidFill>
              <a:srgbClr val="E6F0FF"/>
            </a:solidFill>
            <a:prstDash val="solid"/>
          </a:ln>
        </p:spPr>
      </p:sp>
      <p:sp>
        <p:nvSpPr>
          <p:cNvPr id="10" name="Text 8"/>
          <p:cNvSpPr/>
          <p:nvPr/>
        </p:nvSpPr>
        <p:spPr>
          <a:xfrm>
            <a:off x="2340864" y="2921508"/>
            <a:ext cx="1572768" cy="164592"/>
          </a:xfrm>
          <a:prstGeom prst="rect">
            <a:avLst/>
          </a:prstGeom>
          <a:noFill/>
          <a:ln/>
        </p:spPr>
        <p:txBody>
          <a:bodyPr wrap="square" lIns="0" tIns="0" rIns="0" bIns="0" rtlCol="0" anchor="ctr"/>
          <a:lstStyle/>
          <a:p>
            <a:pPr algn="ctr" indent="0" marL="0">
              <a:buNone/>
            </a:pPr>
            <a:r>
              <a:rPr lang="en-US" sz="950" b="1" dirty="0">
                <a:solidFill>
                  <a:srgbClr val="2563EB"/>
                </a:solidFill>
                <a:latin typeface="Lato" pitchFamily="34" charset="0"/>
                <a:ea typeface="Lato" pitchFamily="34" charset="-122"/>
                <a:cs typeface="Lato" pitchFamily="34" charset="-120"/>
              </a:rPr>
              <a:t>PPT + live demo</a:t>
            </a:r>
            <a:endParaRPr lang="en-US" sz="950" dirty="0"/>
          </a:p>
        </p:txBody>
      </p:sp>
      <p:sp>
        <p:nvSpPr>
          <p:cNvPr id="11" name="Shape 9"/>
          <p:cNvSpPr/>
          <p:nvPr/>
        </p:nvSpPr>
        <p:spPr>
          <a:xfrm>
            <a:off x="4041648" y="2889504"/>
            <a:ext cx="1499616" cy="292608"/>
          </a:xfrm>
          <a:prstGeom prst="roundRect">
            <a:avLst>
              <a:gd name="adj" fmla="val 37500"/>
            </a:avLst>
          </a:prstGeom>
          <a:solidFill>
            <a:srgbClr val="FEF3C7"/>
          </a:solidFill>
          <a:ln w="12700">
            <a:solidFill>
              <a:srgbClr val="FEF3C7"/>
            </a:solidFill>
            <a:prstDash val="solid"/>
          </a:ln>
        </p:spPr>
      </p:sp>
      <p:sp>
        <p:nvSpPr>
          <p:cNvPr id="12" name="Text 10"/>
          <p:cNvSpPr/>
          <p:nvPr/>
        </p:nvSpPr>
        <p:spPr>
          <a:xfrm>
            <a:off x="4041648" y="2921508"/>
            <a:ext cx="1499616" cy="164592"/>
          </a:xfrm>
          <a:prstGeom prst="rect">
            <a:avLst/>
          </a:prstGeom>
          <a:noFill/>
          <a:ln/>
        </p:spPr>
        <p:txBody>
          <a:bodyPr wrap="square" lIns="0" tIns="0" rIns="0" bIns="0" rtlCol="0" anchor="ctr"/>
          <a:lstStyle/>
          <a:p>
            <a:pPr algn="ctr" indent="0" marL="0">
              <a:buNone/>
            </a:pPr>
            <a:r>
              <a:rPr lang="en-US" sz="950" b="1" dirty="0">
                <a:solidFill>
                  <a:srgbClr val="B45309"/>
                </a:solidFill>
                <a:latin typeface="Lato" pitchFamily="34" charset="0"/>
                <a:ea typeface="Lato" pitchFamily="34" charset="-122"/>
                <a:cs typeface="Lato" pitchFamily="34" charset="-120"/>
              </a:rPr>
              <a:t>Evidence-first</a:t>
            </a:r>
            <a:endParaRPr lang="en-US" sz="950" dirty="0"/>
          </a:p>
        </p:txBody>
      </p:sp>
      <p:sp>
        <p:nvSpPr>
          <p:cNvPr id="13" name="Shape 11"/>
          <p:cNvSpPr/>
          <p:nvPr/>
        </p:nvSpPr>
        <p:spPr>
          <a:xfrm>
            <a:off x="6912864" y="896112"/>
            <a:ext cx="2084832" cy="1225296"/>
          </a:xfrm>
          <a:prstGeom prst="roundRect">
            <a:avLst>
              <a:gd name="adj" fmla="val 11940"/>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4" name="Shape 12"/>
          <p:cNvSpPr/>
          <p:nvPr/>
        </p:nvSpPr>
        <p:spPr>
          <a:xfrm>
            <a:off x="6949440" y="969264"/>
            <a:ext cx="73152" cy="1078992"/>
          </a:xfrm>
          <a:prstGeom prst="roundRect">
            <a:avLst>
              <a:gd name="adj" fmla="val 50000"/>
            </a:avLst>
          </a:prstGeom>
          <a:solidFill>
            <a:srgbClr val="0F766E"/>
          </a:solidFill>
          <a:ln w="12700">
            <a:solidFill>
              <a:srgbClr val="0F766E">
                <a:alpha val="0"/>
              </a:srgbClr>
            </a:solidFill>
            <a:prstDash val="solid"/>
          </a:ln>
        </p:spPr>
      </p:sp>
      <p:sp>
        <p:nvSpPr>
          <p:cNvPr id="15" name="Text 13"/>
          <p:cNvSpPr/>
          <p:nvPr/>
        </p:nvSpPr>
        <p:spPr>
          <a:xfrm>
            <a:off x="7095744" y="1042416"/>
            <a:ext cx="1810512" cy="274320"/>
          </a:xfrm>
          <a:prstGeom prst="rect">
            <a:avLst/>
          </a:prstGeom>
          <a:noFill/>
          <a:ln/>
        </p:spPr>
        <p:txBody>
          <a:bodyPr wrap="square" lIns="0" tIns="0" rIns="0" bIns="0" rtlCol="0" anchor="ctr"/>
          <a:lstStyle/>
          <a:p>
            <a:pPr indent="0" marL="0">
              <a:buNone/>
            </a:pPr>
            <a:r>
              <a:rPr lang="en-US" sz="1300" b="1" dirty="0">
                <a:solidFill>
                  <a:srgbClr val="111827"/>
                </a:solidFill>
              </a:rPr>
              <a:t>What it is</a:t>
            </a:r>
            <a:endParaRPr lang="en-US" sz="1300" dirty="0"/>
          </a:p>
        </p:txBody>
      </p:sp>
      <p:sp>
        <p:nvSpPr>
          <p:cNvPr id="16" name="Text 14"/>
          <p:cNvSpPr/>
          <p:nvPr/>
        </p:nvSpPr>
        <p:spPr>
          <a:xfrm>
            <a:off x="7095744" y="1371600"/>
            <a:ext cx="1810512" cy="585216"/>
          </a:xfrm>
          <a:prstGeom prst="rect">
            <a:avLst/>
          </a:prstGeom>
          <a:noFill/>
          <a:ln/>
        </p:spPr>
        <p:txBody>
          <a:bodyPr wrap="square" lIns="0" tIns="0" rIns="0" bIns="0" rtlCol="0" anchor="t"/>
          <a:lstStyle/>
          <a:p>
            <a:pPr indent="0" marL="0">
              <a:buNone/>
            </a:pPr>
            <a:r>
              <a:rPr lang="en-US" sz="1000" dirty="0">
                <a:solidFill>
                  <a:srgbClr val="334155"/>
                </a:solidFill>
              </a:rPr>
              <a:t>Single-turn clinical QA with live retrieval, grounded synthesis, and inspectable citations.</a:t>
            </a:r>
            <a:endParaRPr lang="en-US" sz="1000" dirty="0"/>
          </a:p>
        </p:txBody>
      </p:sp>
      <p:sp>
        <p:nvSpPr>
          <p:cNvPr id="17" name="Shape 15"/>
          <p:cNvSpPr/>
          <p:nvPr/>
        </p:nvSpPr>
        <p:spPr>
          <a:xfrm>
            <a:off x="9144000" y="896112"/>
            <a:ext cx="2322576" cy="1225296"/>
          </a:xfrm>
          <a:prstGeom prst="roundRect">
            <a:avLst>
              <a:gd name="adj" fmla="val 11940"/>
            </a:avLst>
          </a:prstGeom>
          <a:solidFill>
            <a:srgbClr val="FFFFFF"/>
          </a:solidFill>
          <a:ln w="14605">
            <a:solidFill>
              <a:srgbClr val="F3C5C5"/>
            </a:solidFill>
            <a:prstDash val="solid"/>
          </a:ln>
          <a:effectLst>
            <a:outerShdw sx="100000" sy="100000" kx="0" ky="0" algn="bl" rotWithShape="0" blurRad="19050" dist="12700" dir="2700000">
              <a:srgbClr val="000000">
                <a:alpha val="7000"/>
              </a:srgbClr>
            </a:outerShdw>
          </a:effectLst>
        </p:spPr>
      </p:sp>
      <p:sp>
        <p:nvSpPr>
          <p:cNvPr id="18" name="Shape 16"/>
          <p:cNvSpPr/>
          <p:nvPr/>
        </p:nvSpPr>
        <p:spPr>
          <a:xfrm>
            <a:off x="9180576" y="969264"/>
            <a:ext cx="73152" cy="1078992"/>
          </a:xfrm>
          <a:prstGeom prst="roundRect">
            <a:avLst>
              <a:gd name="adj" fmla="val 50000"/>
            </a:avLst>
          </a:prstGeom>
          <a:solidFill>
            <a:srgbClr val="B91C1C"/>
          </a:solidFill>
          <a:ln w="12700">
            <a:solidFill>
              <a:srgbClr val="B91C1C">
                <a:alpha val="0"/>
              </a:srgbClr>
            </a:solidFill>
            <a:prstDash val="solid"/>
          </a:ln>
        </p:spPr>
      </p:sp>
      <p:sp>
        <p:nvSpPr>
          <p:cNvPr id="19" name="Text 17"/>
          <p:cNvSpPr/>
          <p:nvPr/>
        </p:nvSpPr>
        <p:spPr>
          <a:xfrm>
            <a:off x="9326880" y="1042416"/>
            <a:ext cx="2048256" cy="274320"/>
          </a:xfrm>
          <a:prstGeom prst="rect">
            <a:avLst/>
          </a:prstGeom>
          <a:noFill/>
          <a:ln/>
        </p:spPr>
        <p:txBody>
          <a:bodyPr wrap="square" lIns="0" tIns="0" rIns="0" bIns="0" rtlCol="0" anchor="ctr"/>
          <a:lstStyle/>
          <a:p>
            <a:pPr indent="0" marL="0">
              <a:buNone/>
            </a:pPr>
            <a:r>
              <a:rPr lang="en-US" sz="1300" b="1" dirty="0">
                <a:solidFill>
                  <a:srgbClr val="111827"/>
                </a:solidFill>
              </a:rPr>
              <a:t>What it is not</a:t>
            </a:r>
            <a:endParaRPr lang="en-US" sz="1300" dirty="0"/>
          </a:p>
        </p:txBody>
      </p:sp>
      <p:sp>
        <p:nvSpPr>
          <p:cNvPr id="20" name="Text 18"/>
          <p:cNvSpPr/>
          <p:nvPr/>
        </p:nvSpPr>
        <p:spPr>
          <a:xfrm>
            <a:off x="9326880" y="1371600"/>
            <a:ext cx="2048256" cy="585216"/>
          </a:xfrm>
          <a:prstGeom prst="rect">
            <a:avLst/>
          </a:prstGeom>
          <a:noFill/>
          <a:ln/>
        </p:spPr>
        <p:txBody>
          <a:bodyPr wrap="square" lIns="0" tIns="0" rIns="0" bIns="0" rtlCol="0" anchor="t"/>
          <a:lstStyle/>
          <a:p>
            <a:pPr indent="0" marL="0">
              <a:buNone/>
            </a:pPr>
            <a:r>
              <a:rPr lang="en-US" sz="1000" dirty="0">
                <a:solidFill>
                  <a:srgbClr val="334155"/>
                </a:solidFill>
              </a:rPr>
              <a:t>Not a diagnosis engine. The model is not the source of truth.</a:t>
            </a:r>
            <a:endParaRPr lang="en-US" sz="1000" dirty="0"/>
          </a:p>
        </p:txBody>
      </p:sp>
      <p:sp>
        <p:nvSpPr>
          <p:cNvPr id="21" name="Shape 19"/>
          <p:cNvSpPr/>
          <p:nvPr/>
        </p:nvSpPr>
        <p:spPr>
          <a:xfrm>
            <a:off x="6912864" y="2359152"/>
            <a:ext cx="4553712" cy="1591056"/>
          </a:xfrm>
          <a:prstGeom prst="roundRect">
            <a:avLst>
              <a:gd name="adj" fmla="val 9195"/>
            </a:avLst>
          </a:prstGeom>
          <a:solidFill>
            <a:srgbClr val="DFF6F2"/>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22" name="Shape 20"/>
          <p:cNvSpPr/>
          <p:nvPr/>
        </p:nvSpPr>
        <p:spPr>
          <a:xfrm>
            <a:off x="6949440" y="2432304"/>
            <a:ext cx="73152" cy="1444752"/>
          </a:xfrm>
          <a:prstGeom prst="roundRect">
            <a:avLst>
              <a:gd name="adj" fmla="val 50000"/>
            </a:avLst>
          </a:prstGeom>
          <a:solidFill>
            <a:srgbClr val="0F766E"/>
          </a:solidFill>
          <a:ln w="12700">
            <a:solidFill>
              <a:srgbClr val="0F766E">
                <a:alpha val="0"/>
              </a:srgbClr>
            </a:solidFill>
            <a:prstDash val="solid"/>
          </a:ln>
        </p:spPr>
      </p:sp>
      <p:sp>
        <p:nvSpPr>
          <p:cNvPr id="23" name="Text 21"/>
          <p:cNvSpPr/>
          <p:nvPr/>
        </p:nvSpPr>
        <p:spPr>
          <a:xfrm>
            <a:off x="7095744" y="2505456"/>
            <a:ext cx="4279392" cy="274320"/>
          </a:xfrm>
          <a:prstGeom prst="rect">
            <a:avLst/>
          </a:prstGeom>
          <a:noFill/>
          <a:ln/>
        </p:spPr>
        <p:txBody>
          <a:bodyPr wrap="square" lIns="0" tIns="0" rIns="0" bIns="0" rtlCol="0" anchor="ctr"/>
          <a:lstStyle/>
          <a:p>
            <a:pPr indent="0" marL="0">
              <a:buNone/>
            </a:pPr>
            <a:r>
              <a:rPr lang="en-US" sz="1300" b="1" dirty="0">
                <a:solidFill>
                  <a:srgbClr val="111827"/>
                </a:solidFill>
              </a:rPr>
              <a:t>This talk will answer four questions</a:t>
            </a:r>
            <a:endParaRPr lang="en-US" sz="1300" dirty="0"/>
          </a:p>
        </p:txBody>
      </p:sp>
      <p:sp>
        <p:nvSpPr>
          <p:cNvPr id="24" name="Text 22"/>
          <p:cNvSpPr/>
          <p:nvPr/>
        </p:nvSpPr>
        <p:spPr>
          <a:xfrm>
            <a:off x="7095744" y="2834640"/>
            <a:ext cx="4279392" cy="950976"/>
          </a:xfrm>
          <a:prstGeom prst="rect">
            <a:avLst/>
          </a:prstGeom>
          <a:noFill/>
          <a:ln/>
        </p:spPr>
        <p:txBody>
          <a:bodyPr wrap="square" lIns="0" tIns="0" rIns="0" bIns="0" rtlCol="0" anchor="t"/>
          <a:lstStyle/>
          <a:p>
            <a:pPr indent="0" marL="0">
              <a:buNone/>
            </a:pPr>
            <a:r>
              <a:rPr lang="en-US" sz="1078" dirty="0">
                <a:solidFill>
                  <a:srgbClr val="334155"/>
                </a:solidFill>
              </a:rPr>
              <a:t>1. How I would architect the backend</a:t>
            </a:r>
            <a:endParaRPr lang="en-US" sz="1078" dirty="0"/>
          </a:p>
          <a:p>
            <a:pPr indent="0" marL="0">
              <a:buNone/>
            </a:pPr>
            <a:r>
              <a:rPr lang="en-US" sz="1078" dirty="0">
                <a:solidFill>
                  <a:srgbClr val="334155"/>
                </a:solidFill>
              </a:rPr>
              <a:t>2. How I query ClinicalTrials.gov and PubMed</a:t>
            </a:r>
            <a:endParaRPr lang="en-US" sz="1078" dirty="0"/>
          </a:p>
          <a:p>
            <a:pPr indent="0" marL="0">
              <a:buNone/>
            </a:pPr>
            <a:r>
              <a:rPr lang="en-US" sz="1078" dirty="0">
                <a:solidFill>
                  <a:srgbClr val="334155"/>
                </a:solidFill>
              </a:rPr>
              <a:t>3. How I surface accurate, cited answers</a:t>
            </a:r>
            <a:endParaRPr lang="en-US" sz="1078" dirty="0"/>
          </a:p>
          <a:p>
            <a:pPr indent="0" marL="0">
              <a:buNone/>
            </a:pPr>
            <a:r>
              <a:rPr lang="en-US" sz="1078" dirty="0">
                <a:solidFill>
                  <a:srgbClr val="334155"/>
                </a:solidFill>
              </a:rPr>
              <a:t>4. Which tradeoffs I would make and why</a:t>
            </a:r>
            <a:endParaRPr lang="en-US" sz="1078" dirty="0"/>
          </a:p>
        </p:txBody>
      </p:sp>
      <p:sp>
        <p:nvSpPr>
          <p:cNvPr id="25" name="Shape 23"/>
          <p:cNvSpPr/>
          <p:nvPr/>
        </p:nvSpPr>
        <p:spPr>
          <a:xfrm>
            <a:off x="768096" y="4224528"/>
            <a:ext cx="10716768" cy="1078992"/>
          </a:xfrm>
          <a:prstGeom prst="roundRect">
            <a:avLst>
              <a:gd name="adj" fmla="val 13559"/>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26" name="Shape 24"/>
          <p:cNvSpPr/>
          <p:nvPr/>
        </p:nvSpPr>
        <p:spPr>
          <a:xfrm>
            <a:off x="804672" y="4297680"/>
            <a:ext cx="73152" cy="932688"/>
          </a:xfrm>
          <a:prstGeom prst="roundRect">
            <a:avLst>
              <a:gd name="adj" fmla="val 50000"/>
            </a:avLst>
          </a:prstGeom>
          <a:solidFill>
            <a:srgbClr val="0F766E"/>
          </a:solidFill>
          <a:ln w="12700">
            <a:solidFill>
              <a:srgbClr val="0F766E">
                <a:alpha val="0"/>
              </a:srgbClr>
            </a:solidFill>
            <a:prstDash val="solid"/>
          </a:ln>
        </p:spPr>
      </p:sp>
      <p:sp>
        <p:nvSpPr>
          <p:cNvPr id="27" name="Text 25"/>
          <p:cNvSpPr/>
          <p:nvPr/>
        </p:nvSpPr>
        <p:spPr>
          <a:xfrm>
            <a:off x="950976" y="4370832"/>
            <a:ext cx="10442448" cy="274320"/>
          </a:xfrm>
          <a:prstGeom prst="rect">
            <a:avLst/>
          </a:prstGeom>
          <a:noFill/>
          <a:ln/>
        </p:spPr>
        <p:txBody>
          <a:bodyPr wrap="square" lIns="0" tIns="0" rIns="0" bIns="0" rtlCol="0" anchor="ctr"/>
          <a:lstStyle/>
          <a:p>
            <a:pPr indent="0" marL="0">
              <a:buNone/>
            </a:pPr>
            <a:r>
              <a:rPr lang="en-US" sz="1300" b="1" dirty="0">
                <a:solidFill>
                  <a:srgbClr val="111827"/>
                </a:solidFill>
              </a:rPr>
              <a:t>Framing line</a:t>
            </a:r>
            <a:endParaRPr lang="en-US" sz="1300" dirty="0"/>
          </a:p>
        </p:txBody>
      </p:sp>
      <p:sp>
        <p:nvSpPr>
          <p:cNvPr id="28" name="Text 26"/>
          <p:cNvSpPr/>
          <p:nvPr/>
        </p:nvSpPr>
        <p:spPr>
          <a:xfrm>
            <a:off x="950976" y="4700016"/>
            <a:ext cx="10442448" cy="438912"/>
          </a:xfrm>
          <a:prstGeom prst="rect">
            <a:avLst/>
          </a:prstGeom>
          <a:noFill/>
          <a:ln/>
        </p:spPr>
        <p:txBody>
          <a:bodyPr wrap="square" lIns="0" tIns="0" rIns="0" bIns="0" rtlCol="0" anchor="t"/>
          <a:lstStyle/>
          <a:p>
            <a:pPr indent="0" marL="0">
              <a:buNone/>
            </a:pPr>
            <a:r>
              <a:rPr lang="en-US" sz="1200" dirty="0">
                <a:solidFill>
                  <a:srgbClr val="334155"/>
                </a:solidFill>
              </a:rPr>
              <a:t>The strongest way to present this project is not as a hypothetical design, but as architecture reasoning backed by a working MVP and concrete code paths.</a:t>
            </a:r>
            <a:endParaRPr lang="en-US" sz="1200" dirty="0"/>
          </a:p>
        </p:txBody>
      </p:sp>
      <p:sp>
        <p:nvSpPr>
          <p:cNvPr id="29" name="Shape 27"/>
          <p:cNvSpPr/>
          <p:nvPr/>
        </p:nvSpPr>
        <p:spPr>
          <a:xfrm>
            <a:off x="749808" y="5833872"/>
            <a:ext cx="10625328" cy="420624"/>
          </a:xfrm>
          <a:prstGeom prst="roundRect">
            <a:avLst>
              <a:gd name="adj" fmla="val 30435"/>
            </a:avLst>
          </a:prstGeom>
          <a:solidFill>
            <a:srgbClr val="FFFFFF"/>
          </a:solidFill>
          <a:ln w="12700">
            <a:solidFill>
              <a:srgbClr val="CBD5E1"/>
            </a:solidFill>
            <a:prstDash val="solid"/>
          </a:ln>
        </p:spPr>
      </p:sp>
      <p:sp>
        <p:nvSpPr>
          <p:cNvPr id="30" name="Text 28"/>
          <p:cNvSpPr/>
          <p:nvPr/>
        </p:nvSpPr>
        <p:spPr>
          <a:xfrm>
            <a:off x="932688" y="5943600"/>
            <a:ext cx="749808" cy="146304"/>
          </a:xfrm>
          <a:prstGeom prst="rect">
            <a:avLst/>
          </a:prstGeom>
          <a:noFill/>
          <a:ln/>
        </p:spPr>
        <p:txBody>
          <a:bodyPr wrap="square" lIns="0" tIns="0" rIns="0" bIns="0" rtlCol="0" anchor="ctr"/>
          <a:lstStyle/>
          <a:p>
            <a:pPr indent="0" marL="0">
              <a:buNone/>
            </a:pPr>
            <a:r>
              <a:rPr lang="en-US" sz="860" b="1" dirty="0">
                <a:solidFill>
                  <a:srgbClr val="115E59"/>
                </a:solidFill>
                <a:latin typeface="Lato" pitchFamily="34" charset="0"/>
                <a:ea typeface="Lato" pitchFamily="34" charset="-122"/>
                <a:cs typeface="Lato" pitchFamily="34" charset="-120"/>
              </a:rPr>
              <a:t>Show live:</a:t>
            </a:r>
            <a:endParaRPr lang="en-US" sz="860" dirty="0"/>
          </a:p>
        </p:txBody>
      </p:sp>
      <p:sp>
        <p:nvSpPr>
          <p:cNvPr id="31" name="Text 29"/>
          <p:cNvSpPr/>
          <p:nvPr/>
        </p:nvSpPr>
        <p:spPr>
          <a:xfrm>
            <a:off x="1938528" y="5943600"/>
            <a:ext cx="9034272" cy="146304"/>
          </a:xfrm>
          <a:prstGeom prst="rect">
            <a:avLst/>
          </a:prstGeom>
          <a:noFill/>
          <a:ln/>
        </p:spPr>
        <p:txBody>
          <a:bodyPr wrap="square" lIns="0" tIns="0" rIns="0" bIns="0" rtlCol="0" anchor="ctr"/>
          <a:lstStyle/>
          <a:p>
            <a:pPr indent="0" marL="0">
              <a:buNone/>
            </a:pPr>
            <a:r>
              <a:rPr lang="en-US" sz="820" dirty="0">
                <a:solidFill>
                  <a:srgbClr val="334155"/>
                </a:solidFill>
                <a:latin typeface="DejaVu Sans Mono" pitchFamily="34" charset="0"/>
                <a:ea typeface="DejaVu Sans Mono" pitchFamily="34" charset="-122"/>
                <a:cs typeface="DejaVu Sans Mono" pitchFamily="34" charset="-120"/>
              </a:rPr>
              <a:t>frontend/src/App.tsx</a:t>
            </a:r>
            <a:endParaRPr lang="en-US" sz="820" dirty="0"/>
          </a:p>
        </p:txBody>
      </p:sp>
      <p:sp>
        <p:nvSpPr>
          <p:cNvPr id="32" name="Shape 30"/>
          <p:cNvSpPr/>
          <p:nvPr/>
        </p:nvSpPr>
        <p:spPr>
          <a:xfrm>
            <a:off x="640080" y="6419088"/>
            <a:ext cx="10927080" cy="0"/>
          </a:xfrm>
          <a:prstGeom prst="line">
            <a:avLst/>
          </a:prstGeom>
          <a:noFill/>
          <a:ln w="12700">
            <a:solidFill>
              <a:srgbClr val="CBD5E1"/>
            </a:solidFill>
            <a:prstDash val="solid"/>
          </a:ln>
        </p:spPr>
      </p:sp>
      <p:sp>
        <p:nvSpPr>
          <p:cNvPr id="33" name="Text 31"/>
          <p:cNvSpPr/>
          <p:nvPr/>
        </p:nvSpPr>
        <p:spPr>
          <a:xfrm>
            <a:off x="658368" y="6473952"/>
            <a:ext cx="4480560" cy="164592"/>
          </a:xfrm>
          <a:prstGeom prst="rect">
            <a:avLst/>
          </a:prstGeom>
          <a:noFill/>
          <a:ln/>
        </p:spPr>
        <p:txBody>
          <a:bodyPr wrap="square" lIns="0" tIns="0" rIns="0" bIns="0" rtlCol="0" anchor="ctr"/>
          <a:lstStyle/>
          <a:p>
            <a:pPr indent="0" marL="0">
              <a:buNone/>
            </a:pPr>
            <a:r>
              <a:rPr lang="en-US" sz="800" dirty="0">
                <a:solidFill>
                  <a:srgbClr val="64748B"/>
                </a:solidFill>
                <a:latin typeface="Lato" pitchFamily="34" charset="0"/>
                <a:ea typeface="Lato" pitchFamily="34" charset="-122"/>
                <a:cs typeface="Lato" pitchFamily="34" charset="-120"/>
              </a:rPr>
              <a:t>Slide 1 · framing and positioning</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5EF"/>
          </a:solidFill>
          <a:ln w="12700">
            <a:solidFill>
              <a:srgbClr val="F7F5EF"/>
            </a:solidFill>
            <a:prstDash val="solid"/>
          </a:ln>
        </p:spPr>
      </p:sp>
      <p:sp>
        <p:nvSpPr>
          <p:cNvPr id="3" name="Shape 1"/>
          <p:cNvSpPr/>
          <p:nvPr/>
        </p:nvSpPr>
        <p:spPr>
          <a:xfrm>
            <a:off x="566928" y="384048"/>
            <a:ext cx="950976" cy="73152"/>
          </a:xfrm>
          <a:prstGeom prst="roundRect">
            <a:avLst>
              <a:gd name="adj" fmla="val 50000"/>
            </a:avLst>
          </a:prstGeom>
          <a:solidFill>
            <a:srgbClr val="0F766E"/>
          </a:solidFill>
          <a:ln w="12700">
            <a:solidFill>
              <a:srgbClr val="0F766E">
                <a:alpha val="0"/>
              </a:srgbClr>
            </a:solidFill>
            <a:prstDash val="solid"/>
          </a:ln>
        </p:spPr>
      </p:sp>
      <p:sp>
        <p:nvSpPr>
          <p:cNvPr id="4" name="Text 2"/>
          <p:cNvSpPr/>
          <p:nvPr/>
        </p:nvSpPr>
        <p:spPr>
          <a:xfrm>
            <a:off x="640080" y="512064"/>
            <a:ext cx="2377440" cy="201168"/>
          </a:xfrm>
          <a:prstGeom prst="rect">
            <a:avLst/>
          </a:prstGeom>
          <a:noFill/>
          <a:ln/>
        </p:spPr>
        <p:txBody>
          <a:bodyPr wrap="square" lIns="0" tIns="0" rIns="0" bIns="0" rtlCol="0" anchor="ctr"/>
          <a:lstStyle/>
          <a:p>
            <a:pPr indent="0" marL="0">
              <a:buNone/>
            </a:pPr>
            <a:r>
              <a:rPr lang="en-US" sz="880" b="1" dirty="0">
                <a:solidFill>
                  <a:srgbClr val="0F766E"/>
                </a:solidFill>
                <a:latin typeface="Lato" pitchFamily="34" charset="0"/>
                <a:ea typeface="Lato" pitchFamily="34" charset="-122"/>
                <a:cs typeface="Lato" pitchFamily="34" charset="-120"/>
              </a:rPr>
              <a:t>BACKEND</a:t>
            </a:r>
            <a:endParaRPr lang="en-US" sz="880" dirty="0"/>
          </a:p>
        </p:txBody>
      </p:sp>
      <p:sp>
        <p:nvSpPr>
          <p:cNvPr id="5" name="Text 3"/>
          <p:cNvSpPr/>
          <p:nvPr/>
        </p:nvSpPr>
        <p:spPr>
          <a:xfrm>
            <a:off x="640080" y="768096"/>
            <a:ext cx="7498080" cy="694944"/>
          </a:xfrm>
          <a:prstGeom prst="rect">
            <a:avLst/>
          </a:prstGeom>
          <a:noFill/>
          <a:ln/>
        </p:spPr>
        <p:txBody>
          <a:bodyPr wrap="square" lIns="0" tIns="0" rIns="0" bIns="0" rtlCol="0" anchor="ctr"/>
          <a:lstStyle/>
          <a:p>
            <a:pPr indent="0" marL="0">
              <a:buNone/>
            </a:pPr>
            <a:r>
              <a:rPr lang="en-US" sz="2616" b="1" dirty="0">
                <a:solidFill>
                  <a:srgbClr val="111827"/>
                </a:solidFill>
              </a:rPr>
              <a:t>How I Would Architect the Backend</a:t>
            </a:r>
            <a:endParaRPr lang="en-US" sz="2616" dirty="0"/>
          </a:p>
        </p:txBody>
      </p:sp>
      <p:sp>
        <p:nvSpPr>
          <p:cNvPr id="6" name="Text 4"/>
          <p:cNvSpPr/>
          <p:nvPr/>
        </p:nvSpPr>
        <p:spPr>
          <a:xfrm>
            <a:off x="676656" y="1481328"/>
            <a:ext cx="7040880" cy="310896"/>
          </a:xfrm>
          <a:prstGeom prst="rect">
            <a:avLst/>
          </a:prstGeom>
          <a:noFill/>
          <a:ln/>
        </p:spPr>
        <p:txBody>
          <a:bodyPr wrap="square" lIns="0" tIns="0" rIns="0" bIns="0" rtlCol="0" anchor="ctr"/>
          <a:lstStyle/>
          <a:p>
            <a:pPr indent="0" marL="0">
              <a:buNone/>
            </a:pPr>
            <a:r>
              <a:rPr lang="en-US" sz="1120" dirty="0">
                <a:solidFill>
                  <a:srgbClr val="334155"/>
                </a:solidFill>
              </a:rPr>
              <a:t>Thin HTTP layer, one orchestration service, source-specific retrieval services, a provider-neutral LLM layer, and a separate cache layer.</a:t>
            </a:r>
            <a:endParaRPr lang="en-US" sz="1120" dirty="0"/>
          </a:p>
        </p:txBody>
      </p:sp>
      <p:sp>
        <p:nvSpPr>
          <p:cNvPr id="7" name="Text 5"/>
          <p:cNvSpPr/>
          <p:nvPr/>
        </p:nvSpPr>
        <p:spPr>
          <a:xfrm>
            <a:off x="11247120" y="457200"/>
            <a:ext cx="411480" cy="201168"/>
          </a:xfrm>
          <a:prstGeom prst="rect">
            <a:avLst/>
          </a:prstGeom>
          <a:noFill/>
          <a:ln/>
        </p:spPr>
        <p:txBody>
          <a:bodyPr wrap="square" lIns="0" tIns="0" rIns="0" bIns="0" rtlCol="0" anchor="ctr"/>
          <a:lstStyle/>
          <a:p>
            <a:pPr algn="r" indent="0" marL="0">
              <a:buNone/>
            </a:pPr>
            <a:r>
              <a:rPr lang="en-US" sz="900" dirty="0">
                <a:solidFill>
                  <a:srgbClr val="64748B"/>
                </a:solidFill>
                <a:latin typeface="Lato" pitchFamily="34" charset="0"/>
                <a:ea typeface="Lato" pitchFamily="34" charset="-122"/>
                <a:cs typeface="Lato" pitchFamily="34" charset="-120"/>
              </a:rPr>
              <a:t>02</a:t>
            </a:r>
            <a:endParaRPr lang="en-US" sz="9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409643" y="1920240"/>
            <a:ext cx="7378810" cy="2651760"/>
          </a:xfrm>
          <a:prstGeom prst="rect">
            <a:avLst/>
          </a:prstGeom>
        </p:spPr>
      </p:pic>
      <p:sp>
        <p:nvSpPr>
          <p:cNvPr id="9" name="Shape 6"/>
          <p:cNvSpPr/>
          <p:nvPr/>
        </p:nvSpPr>
        <p:spPr>
          <a:xfrm>
            <a:off x="768096" y="4828032"/>
            <a:ext cx="3255264" cy="859536"/>
          </a:xfrm>
          <a:prstGeom prst="roundRect">
            <a:avLst>
              <a:gd name="adj" fmla="val 17021"/>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0" name="Shape 7"/>
          <p:cNvSpPr/>
          <p:nvPr/>
        </p:nvSpPr>
        <p:spPr>
          <a:xfrm>
            <a:off x="804672" y="4901184"/>
            <a:ext cx="73152" cy="713232"/>
          </a:xfrm>
          <a:prstGeom prst="roundRect">
            <a:avLst>
              <a:gd name="adj" fmla="val 50000"/>
            </a:avLst>
          </a:prstGeom>
          <a:solidFill>
            <a:srgbClr val="0F766E"/>
          </a:solidFill>
          <a:ln w="12700">
            <a:solidFill>
              <a:srgbClr val="0F766E">
                <a:alpha val="0"/>
              </a:srgbClr>
            </a:solidFill>
            <a:prstDash val="solid"/>
          </a:ln>
        </p:spPr>
      </p:sp>
      <p:sp>
        <p:nvSpPr>
          <p:cNvPr id="11" name="Text 8"/>
          <p:cNvSpPr/>
          <p:nvPr/>
        </p:nvSpPr>
        <p:spPr>
          <a:xfrm>
            <a:off x="950976" y="4974336"/>
            <a:ext cx="2980944" cy="274320"/>
          </a:xfrm>
          <a:prstGeom prst="rect">
            <a:avLst/>
          </a:prstGeom>
          <a:noFill/>
          <a:ln/>
        </p:spPr>
        <p:txBody>
          <a:bodyPr wrap="square" lIns="0" tIns="0" rIns="0" bIns="0" rtlCol="0" anchor="ctr"/>
          <a:lstStyle/>
          <a:p>
            <a:pPr indent="0" marL="0">
              <a:buNone/>
            </a:pPr>
            <a:r>
              <a:rPr lang="en-US" sz="1300" b="1" dirty="0">
                <a:solidFill>
                  <a:srgbClr val="111827"/>
                </a:solidFill>
              </a:rPr>
              <a:t>Why split responsibilities</a:t>
            </a:r>
            <a:endParaRPr lang="en-US" sz="1300" dirty="0"/>
          </a:p>
        </p:txBody>
      </p:sp>
      <p:sp>
        <p:nvSpPr>
          <p:cNvPr id="12" name="Text 9"/>
          <p:cNvSpPr/>
          <p:nvPr/>
        </p:nvSpPr>
        <p:spPr>
          <a:xfrm>
            <a:off x="950976" y="5303520"/>
            <a:ext cx="2980944" cy="219456"/>
          </a:xfrm>
          <a:prstGeom prst="rect">
            <a:avLst/>
          </a:prstGeom>
          <a:noFill/>
          <a:ln/>
        </p:spPr>
        <p:txBody>
          <a:bodyPr wrap="square" lIns="0" tIns="0" rIns="0" bIns="0" rtlCol="0" anchor="t"/>
          <a:lstStyle/>
          <a:p>
            <a:pPr indent="0" marL="0">
              <a:buNone/>
            </a:pPr>
            <a:r>
              <a:rPr lang="en-US" sz="1000" dirty="0">
                <a:solidFill>
                  <a:srgbClr val="334155"/>
                </a:solidFill>
              </a:rPr>
              <a:t>Different failure modes: API lifecycle, retrieval logic, ranking, generation, and persistence should not collapse into one service.</a:t>
            </a:r>
            <a:endParaRPr lang="en-US" sz="1000" dirty="0"/>
          </a:p>
        </p:txBody>
      </p:sp>
      <p:sp>
        <p:nvSpPr>
          <p:cNvPr id="13" name="Shape 10"/>
          <p:cNvSpPr/>
          <p:nvPr/>
        </p:nvSpPr>
        <p:spPr>
          <a:xfrm>
            <a:off x="4187952" y="4828032"/>
            <a:ext cx="3255264" cy="859536"/>
          </a:xfrm>
          <a:prstGeom prst="roundRect">
            <a:avLst>
              <a:gd name="adj" fmla="val 17021"/>
            </a:avLst>
          </a:prstGeom>
          <a:solidFill>
            <a:srgbClr val="DFF6F2"/>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4" name="Shape 11"/>
          <p:cNvSpPr/>
          <p:nvPr/>
        </p:nvSpPr>
        <p:spPr>
          <a:xfrm>
            <a:off x="4224528" y="4901184"/>
            <a:ext cx="73152" cy="713232"/>
          </a:xfrm>
          <a:prstGeom prst="roundRect">
            <a:avLst>
              <a:gd name="adj" fmla="val 50000"/>
            </a:avLst>
          </a:prstGeom>
          <a:solidFill>
            <a:srgbClr val="0F766E"/>
          </a:solidFill>
          <a:ln w="12700">
            <a:solidFill>
              <a:srgbClr val="0F766E">
                <a:alpha val="0"/>
              </a:srgbClr>
            </a:solidFill>
            <a:prstDash val="solid"/>
          </a:ln>
        </p:spPr>
      </p:sp>
      <p:sp>
        <p:nvSpPr>
          <p:cNvPr id="15" name="Text 12"/>
          <p:cNvSpPr/>
          <p:nvPr/>
        </p:nvSpPr>
        <p:spPr>
          <a:xfrm>
            <a:off x="4370832" y="4974336"/>
            <a:ext cx="2980944" cy="274320"/>
          </a:xfrm>
          <a:prstGeom prst="rect">
            <a:avLst/>
          </a:prstGeom>
          <a:noFill/>
          <a:ln/>
        </p:spPr>
        <p:txBody>
          <a:bodyPr wrap="square" lIns="0" tIns="0" rIns="0" bIns="0" rtlCol="0" anchor="ctr"/>
          <a:lstStyle/>
          <a:p>
            <a:pPr indent="0" marL="0">
              <a:buNone/>
            </a:pPr>
            <a:r>
              <a:rPr lang="en-US" sz="1300" b="1" dirty="0">
                <a:solidFill>
                  <a:srgbClr val="111827"/>
                </a:solidFill>
              </a:rPr>
              <a:t>What the repo proves</a:t>
            </a:r>
            <a:endParaRPr lang="en-US" sz="1300" dirty="0"/>
          </a:p>
        </p:txBody>
      </p:sp>
      <p:sp>
        <p:nvSpPr>
          <p:cNvPr id="16" name="Text 13"/>
          <p:cNvSpPr/>
          <p:nvPr/>
        </p:nvSpPr>
        <p:spPr>
          <a:xfrm>
            <a:off x="4370832" y="5303520"/>
            <a:ext cx="2980944" cy="219456"/>
          </a:xfrm>
          <a:prstGeom prst="rect">
            <a:avLst/>
          </a:prstGeom>
          <a:noFill/>
          <a:ln/>
        </p:spPr>
        <p:txBody>
          <a:bodyPr wrap="square" lIns="0" tIns="0" rIns="0" bIns="0" rtlCol="0" anchor="t"/>
          <a:lstStyle/>
          <a:p>
            <a:pPr indent="0" marL="0">
              <a:buNone/>
            </a:pPr>
            <a:r>
              <a:rPr lang="en-US" sz="1000" dirty="0">
                <a:solidFill>
                  <a:srgbClr val="334155"/>
                </a:solidFill>
              </a:rPr>
              <a:t>The current code already follows this separation through main.py, qa.py, source services, rerank.py, llm_service.py, and cache.py.</a:t>
            </a:r>
            <a:endParaRPr lang="en-US" sz="1000" dirty="0"/>
          </a:p>
        </p:txBody>
      </p:sp>
      <p:sp>
        <p:nvSpPr>
          <p:cNvPr id="17" name="Shape 14"/>
          <p:cNvSpPr/>
          <p:nvPr/>
        </p:nvSpPr>
        <p:spPr>
          <a:xfrm>
            <a:off x="7607808" y="4828032"/>
            <a:ext cx="3749040" cy="859536"/>
          </a:xfrm>
          <a:prstGeom prst="roundRect">
            <a:avLst>
              <a:gd name="adj" fmla="val 17021"/>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8" name="Shape 15"/>
          <p:cNvSpPr/>
          <p:nvPr/>
        </p:nvSpPr>
        <p:spPr>
          <a:xfrm>
            <a:off x="7644384" y="4901184"/>
            <a:ext cx="73152" cy="713232"/>
          </a:xfrm>
          <a:prstGeom prst="roundRect">
            <a:avLst>
              <a:gd name="adj" fmla="val 50000"/>
            </a:avLst>
          </a:prstGeom>
          <a:solidFill>
            <a:srgbClr val="0F766E"/>
          </a:solidFill>
          <a:ln w="12700">
            <a:solidFill>
              <a:srgbClr val="0F766E">
                <a:alpha val="0"/>
              </a:srgbClr>
            </a:solidFill>
            <a:prstDash val="solid"/>
          </a:ln>
        </p:spPr>
      </p:sp>
      <p:sp>
        <p:nvSpPr>
          <p:cNvPr id="19" name="Text 16"/>
          <p:cNvSpPr/>
          <p:nvPr/>
        </p:nvSpPr>
        <p:spPr>
          <a:xfrm>
            <a:off x="7790688" y="4974336"/>
            <a:ext cx="3474720" cy="274320"/>
          </a:xfrm>
          <a:prstGeom prst="rect">
            <a:avLst/>
          </a:prstGeom>
          <a:noFill/>
          <a:ln/>
        </p:spPr>
        <p:txBody>
          <a:bodyPr wrap="square" lIns="0" tIns="0" rIns="0" bIns="0" rtlCol="0" anchor="ctr"/>
          <a:lstStyle/>
          <a:p>
            <a:pPr indent="0" marL="0">
              <a:buNone/>
            </a:pPr>
            <a:r>
              <a:rPr lang="en-US" sz="1300" b="1" dirty="0">
                <a:solidFill>
                  <a:srgbClr val="111827"/>
                </a:solidFill>
              </a:rPr>
              <a:t>What I would emphasize verbally</a:t>
            </a:r>
            <a:endParaRPr lang="en-US" sz="1300" dirty="0"/>
          </a:p>
        </p:txBody>
      </p:sp>
      <p:sp>
        <p:nvSpPr>
          <p:cNvPr id="20" name="Text 17"/>
          <p:cNvSpPr/>
          <p:nvPr/>
        </p:nvSpPr>
        <p:spPr>
          <a:xfrm>
            <a:off x="7790688" y="5303520"/>
            <a:ext cx="3474720" cy="219456"/>
          </a:xfrm>
          <a:prstGeom prst="rect">
            <a:avLst/>
          </a:prstGeom>
          <a:noFill/>
          <a:ln/>
        </p:spPr>
        <p:txBody>
          <a:bodyPr wrap="square" lIns="0" tIns="0" rIns="0" bIns="0" rtlCol="0" anchor="t"/>
          <a:lstStyle/>
          <a:p>
            <a:pPr indent="0" marL="0">
              <a:buNone/>
            </a:pPr>
            <a:r>
              <a:rPr lang="en-US" sz="1000" dirty="0">
                <a:solidFill>
                  <a:srgbClr val="334155"/>
                </a:solidFill>
              </a:rPr>
              <a:t>This is not a giant function. It is a pipeline with clear interfaces between retrieval, synthesis, and validation.</a:t>
            </a:r>
            <a:endParaRPr lang="en-US" sz="1000" dirty="0"/>
          </a:p>
        </p:txBody>
      </p:sp>
      <p:sp>
        <p:nvSpPr>
          <p:cNvPr id="21" name="Shape 18"/>
          <p:cNvSpPr/>
          <p:nvPr/>
        </p:nvSpPr>
        <p:spPr>
          <a:xfrm>
            <a:off x="749808" y="5833872"/>
            <a:ext cx="10625328" cy="420624"/>
          </a:xfrm>
          <a:prstGeom prst="roundRect">
            <a:avLst>
              <a:gd name="adj" fmla="val 30435"/>
            </a:avLst>
          </a:prstGeom>
          <a:solidFill>
            <a:srgbClr val="FFFFFF"/>
          </a:solidFill>
          <a:ln w="12700">
            <a:solidFill>
              <a:srgbClr val="CBD5E1"/>
            </a:solidFill>
            <a:prstDash val="solid"/>
          </a:ln>
        </p:spPr>
      </p:sp>
      <p:sp>
        <p:nvSpPr>
          <p:cNvPr id="22" name="Text 19"/>
          <p:cNvSpPr/>
          <p:nvPr/>
        </p:nvSpPr>
        <p:spPr>
          <a:xfrm>
            <a:off x="932688" y="5943600"/>
            <a:ext cx="749808" cy="146304"/>
          </a:xfrm>
          <a:prstGeom prst="rect">
            <a:avLst/>
          </a:prstGeom>
          <a:noFill/>
          <a:ln/>
        </p:spPr>
        <p:txBody>
          <a:bodyPr wrap="square" lIns="0" tIns="0" rIns="0" bIns="0" rtlCol="0" anchor="ctr"/>
          <a:lstStyle/>
          <a:p>
            <a:pPr indent="0" marL="0">
              <a:buNone/>
            </a:pPr>
            <a:r>
              <a:rPr lang="en-US" sz="860" b="1" dirty="0">
                <a:solidFill>
                  <a:srgbClr val="115E59"/>
                </a:solidFill>
                <a:latin typeface="Lato" pitchFamily="34" charset="0"/>
                <a:ea typeface="Lato" pitchFamily="34" charset="-122"/>
                <a:cs typeface="Lato" pitchFamily="34" charset="-120"/>
              </a:rPr>
              <a:t>Show live:</a:t>
            </a:r>
            <a:endParaRPr lang="en-US" sz="860" dirty="0"/>
          </a:p>
        </p:txBody>
      </p:sp>
      <p:sp>
        <p:nvSpPr>
          <p:cNvPr id="23" name="Text 20"/>
          <p:cNvSpPr/>
          <p:nvPr/>
        </p:nvSpPr>
        <p:spPr>
          <a:xfrm>
            <a:off x="1938528" y="5943600"/>
            <a:ext cx="9034272" cy="146304"/>
          </a:xfrm>
          <a:prstGeom prst="rect">
            <a:avLst/>
          </a:prstGeom>
          <a:noFill/>
          <a:ln/>
        </p:spPr>
        <p:txBody>
          <a:bodyPr wrap="square" lIns="0" tIns="0" rIns="0" bIns="0" rtlCol="0" anchor="ctr"/>
          <a:lstStyle/>
          <a:p>
            <a:pPr indent="0" marL="0">
              <a:buNone/>
            </a:pPr>
            <a:r>
              <a:rPr lang="en-US" sz="820" dirty="0">
                <a:solidFill>
                  <a:srgbClr val="334155"/>
                </a:solidFill>
                <a:latin typeface="DejaVu Sans Mono" pitchFamily="34" charset="0"/>
                <a:ea typeface="DejaVu Sans Mono" pitchFamily="34" charset="-122"/>
                <a:cs typeface="DejaVu Sans Mono" pitchFamily="34" charset="-120"/>
              </a:rPr>
              <a:t>backend/app/main.py · backend/app/services/qa.py</a:t>
            </a:r>
            <a:endParaRPr lang="en-US" sz="820" dirty="0"/>
          </a:p>
        </p:txBody>
      </p:sp>
      <p:sp>
        <p:nvSpPr>
          <p:cNvPr id="24" name="Shape 21"/>
          <p:cNvSpPr/>
          <p:nvPr/>
        </p:nvSpPr>
        <p:spPr>
          <a:xfrm>
            <a:off x="640080" y="6419088"/>
            <a:ext cx="10927080" cy="0"/>
          </a:xfrm>
          <a:prstGeom prst="line">
            <a:avLst/>
          </a:prstGeom>
          <a:noFill/>
          <a:ln w="12700">
            <a:solidFill>
              <a:srgbClr val="CBD5E1"/>
            </a:solidFill>
            <a:prstDash val="solid"/>
          </a:ln>
        </p:spPr>
      </p:sp>
      <p:sp>
        <p:nvSpPr>
          <p:cNvPr id="25" name="Text 22"/>
          <p:cNvSpPr/>
          <p:nvPr/>
        </p:nvSpPr>
        <p:spPr>
          <a:xfrm>
            <a:off x="658368" y="6473952"/>
            <a:ext cx="4480560" cy="164592"/>
          </a:xfrm>
          <a:prstGeom prst="rect">
            <a:avLst/>
          </a:prstGeom>
          <a:noFill/>
          <a:ln/>
        </p:spPr>
        <p:txBody>
          <a:bodyPr wrap="square" lIns="0" tIns="0" rIns="0" bIns="0" rtlCol="0" anchor="ctr"/>
          <a:lstStyle/>
          <a:p>
            <a:pPr indent="0" marL="0">
              <a:buNone/>
            </a:pPr>
            <a:r>
              <a:rPr lang="en-US" sz="800" dirty="0">
                <a:solidFill>
                  <a:srgbClr val="64748B"/>
                </a:solidFill>
                <a:latin typeface="Lato" pitchFamily="34" charset="0"/>
                <a:ea typeface="Lato" pitchFamily="34" charset="-122"/>
                <a:cs typeface="Lato" pitchFamily="34" charset="-120"/>
              </a:rPr>
              <a:t>Slide 2 · backend architecture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5EF"/>
          </a:solidFill>
          <a:ln w="12700">
            <a:solidFill>
              <a:srgbClr val="F7F5EF"/>
            </a:solidFill>
            <a:prstDash val="solid"/>
          </a:ln>
        </p:spPr>
      </p:sp>
      <p:sp>
        <p:nvSpPr>
          <p:cNvPr id="3" name="Shape 1"/>
          <p:cNvSpPr/>
          <p:nvPr/>
        </p:nvSpPr>
        <p:spPr>
          <a:xfrm>
            <a:off x="566928" y="384048"/>
            <a:ext cx="950976" cy="73152"/>
          </a:xfrm>
          <a:prstGeom prst="roundRect">
            <a:avLst>
              <a:gd name="adj" fmla="val 50000"/>
            </a:avLst>
          </a:prstGeom>
          <a:solidFill>
            <a:srgbClr val="0F766E"/>
          </a:solidFill>
          <a:ln w="12700">
            <a:solidFill>
              <a:srgbClr val="0F766E">
                <a:alpha val="0"/>
              </a:srgbClr>
            </a:solidFill>
            <a:prstDash val="solid"/>
          </a:ln>
        </p:spPr>
      </p:sp>
      <p:sp>
        <p:nvSpPr>
          <p:cNvPr id="4" name="Text 2"/>
          <p:cNvSpPr/>
          <p:nvPr/>
        </p:nvSpPr>
        <p:spPr>
          <a:xfrm>
            <a:off x="640080" y="512064"/>
            <a:ext cx="2377440" cy="201168"/>
          </a:xfrm>
          <a:prstGeom prst="rect">
            <a:avLst/>
          </a:prstGeom>
          <a:noFill/>
          <a:ln/>
        </p:spPr>
        <p:txBody>
          <a:bodyPr wrap="square" lIns="0" tIns="0" rIns="0" bIns="0" rtlCol="0" anchor="ctr"/>
          <a:lstStyle/>
          <a:p>
            <a:pPr indent="0" marL="0">
              <a:buNone/>
            </a:pPr>
            <a:r>
              <a:rPr lang="en-US" sz="880" b="1" dirty="0">
                <a:solidFill>
                  <a:srgbClr val="0F766E"/>
                </a:solidFill>
                <a:latin typeface="Lato" pitchFamily="34" charset="0"/>
                <a:ea typeface="Lato" pitchFamily="34" charset="-122"/>
                <a:cs typeface="Lato" pitchFamily="34" charset="-120"/>
              </a:rPr>
              <a:t>API</a:t>
            </a:r>
            <a:endParaRPr lang="en-US" sz="880" dirty="0"/>
          </a:p>
        </p:txBody>
      </p:sp>
      <p:sp>
        <p:nvSpPr>
          <p:cNvPr id="5" name="Text 3"/>
          <p:cNvSpPr/>
          <p:nvPr/>
        </p:nvSpPr>
        <p:spPr>
          <a:xfrm>
            <a:off x="640080" y="768096"/>
            <a:ext cx="7498080" cy="694944"/>
          </a:xfrm>
          <a:prstGeom prst="rect">
            <a:avLst/>
          </a:prstGeom>
          <a:noFill/>
          <a:ln/>
        </p:spPr>
        <p:txBody>
          <a:bodyPr wrap="square" lIns="0" tIns="0" rIns="0" bIns="0" rtlCol="0" anchor="ctr"/>
          <a:lstStyle/>
          <a:p>
            <a:pPr indent="0" marL="0">
              <a:buNone/>
            </a:pPr>
            <a:r>
              <a:rPr lang="en-US" sz="2616" b="1" dirty="0">
                <a:solidFill>
                  <a:srgbClr val="111827"/>
                </a:solidFill>
              </a:rPr>
              <a:t>API Design and Request Lifecycle</a:t>
            </a:r>
            <a:endParaRPr lang="en-US" sz="2616" dirty="0"/>
          </a:p>
        </p:txBody>
      </p:sp>
      <p:sp>
        <p:nvSpPr>
          <p:cNvPr id="6" name="Text 4"/>
          <p:cNvSpPr/>
          <p:nvPr/>
        </p:nvSpPr>
        <p:spPr>
          <a:xfrm>
            <a:off x="676656" y="1481328"/>
            <a:ext cx="7040880" cy="310896"/>
          </a:xfrm>
          <a:prstGeom prst="rect">
            <a:avLst/>
          </a:prstGeom>
          <a:noFill/>
          <a:ln/>
        </p:spPr>
        <p:txBody>
          <a:bodyPr wrap="square" lIns="0" tIns="0" rIns="0" bIns="0" rtlCol="0" anchor="ctr"/>
          <a:lstStyle/>
          <a:p>
            <a:pPr indent="0" marL="0">
              <a:buNone/>
            </a:pPr>
            <a:r>
              <a:rPr lang="en-US" sz="1120" dirty="0">
                <a:solidFill>
                  <a:srgbClr val="334155"/>
                </a:solidFill>
              </a:rPr>
              <a:t>Keep the API simple, separate source drill-down, and make the end-to-end pipeline observable.</a:t>
            </a:r>
            <a:endParaRPr lang="en-US" sz="1120" dirty="0"/>
          </a:p>
        </p:txBody>
      </p:sp>
      <p:sp>
        <p:nvSpPr>
          <p:cNvPr id="7" name="Text 5"/>
          <p:cNvSpPr/>
          <p:nvPr/>
        </p:nvSpPr>
        <p:spPr>
          <a:xfrm>
            <a:off x="11247120" y="457200"/>
            <a:ext cx="411480" cy="201168"/>
          </a:xfrm>
          <a:prstGeom prst="rect">
            <a:avLst/>
          </a:prstGeom>
          <a:noFill/>
          <a:ln/>
        </p:spPr>
        <p:txBody>
          <a:bodyPr wrap="square" lIns="0" tIns="0" rIns="0" bIns="0" rtlCol="0" anchor="ctr"/>
          <a:lstStyle/>
          <a:p>
            <a:pPr algn="r" indent="0" marL="0">
              <a:buNone/>
            </a:pPr>
            <a:r>
              <a:rPr lang="en-US" sz="900" dirty="0">
                <a:solidFill>
                  <a:srgbClr val="64748B"/>
                </a:solidFill>
                <a:latin typeface="Lato" pitchFamily="34" charset="0"/>
                <a:ea typeface="Lato" pitchFamily="34" charset="-122"/>
                <a:cs typeface="Lato" pitchFamily="34" charset="-120"/>
              </a:rPr>
              <a:t>03</a:t>
            </a:r>
            <a:endParaRPr lang="en-US" sz="900" dirty="0"/>
          </a:p>
        </p:txBody>
      </p:sp>
      <p:sp>
        <p:nvSpPr>
          <p:cNvPr id="8" name="Shape 6"/>
          <p:cNvSpPr/>
          <p:nvPr/>
        </p:nvSpPr>
        <p:spPr>
          <a:xfrm>
            <a:off x="768096" y="1883664"/>
            <a:ext cx="2907792" cy="3621024"/>
          </a:xfrm>
          <a:prstGeom prst="roundRect">
            <a:avLst>
              <a:gd name="adj" fmla="val 5031"/>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9" name="Shape 7"/>
          <p:cNvSpPr/>
          <p:nvPr/>
        </p:nvSpPr>
        <p:spPr>
          <a:xfrm>
            <a:off x="804672" y="1956816"/>
            <a:ext cx="73152" cy="3474720"/>
          </a:xfrm>
          <a:prstGeom prst="roundRect">
            <a:avLst>
              <a:gd name="adj" fmla="val 50000"/>
            </a:avLst>
          </a:prstGeom>
          <a:solidFill>
            <a:srgbClr val="0F766E"/>
          </a:solidFill>
          <a:ln w="12700">
            <a:solidFill>
              <a:srgbClr val="0F766E">
                <a:alpha val="0"/>
              </a:srgbClr>
            </a:solidFill>
            <a:prstDash val="solid"/>
          </a:ln>
        </p:spPr>
      </p:sp>
      <p:sp>
        <p:nvSpPr>
          <p:cNvPr id="10" name="Text 8"/>
          <p:cNvSpPr/>
          <p:nvPr/>
        </p:nvSpPr>
        <p:spPr>
          <a:xfrm>
            <a:off x="950976" y="2029968"/>
            <a:ext cx="2633472" cy="274320"/>
          </a:xfrm>
          <a:prstGeom prst="rect">
            <a:avLst/>
          </a:prstGeom>
          <a:noFill/>
          <a:ln/>
        </p:spPr>
        <p:txBody>
          <a:bodyPr wrap="square" lIns="0" tIns="0" rIns="0" bIns="0" rtlCol="0" anchor="ctr"/>
          <a:lstStyle/>
          <a:p>
            <a:pPr indent="0" marL="0">
              <a:buNone/>
            </a:pPr>
            <a:r>
              <a:rPr lang="en-US" sz="1300" b="1" dirty="0">
                <a:solidFill>
                  <a:srgbClr val="111827"/>
                </a:solidFill>
              </a:rPr>
              <a:t>Public endpoints</a:t>
            </a:r>
            <a:endParaRPr lang="en-US" sz="1300" dirty="0"/>
          </a:p>
        </p:txBody>
      </p:sp>
      <p:sp>
        <p:nvSpPr>
          <p:cNvPr id="11" name="Text 9"/>
          <p:cNvSpPr/>
          <p:nvPr/>
        </p:nvSpPr>
        <p:spPr>
          <a:xfrm>
            <a:off x="950976" y="2359152"/>
            <a:ext cx="2633472" cy="2980944"/>
          </a:xfrm>
          <a:prstGeom prst="rect">
            <a:avLst/>
          </a:prstGeom>
          <a:noFill/>
          <a:ln/>
        </p:spPr>
        <p:txBody>
          <a:bodyPr wrap="square" lIns="0" tIns="0" rIns="0" bIns="0" rtlCol="0" anchor="t"/>
          <a:lstStyle/>
          <a:p>
            <a:pPr indent="0" marL="0">
              <a:buNone/>
            </a:pPr>
            <a:r>
              <a:rPr lang="en-US" sz="1197" dirty="0">
                <a:solidFill>
                  <a:srgbClr val="334155"/>
                </a:solidFill>
              </a:rPr>
              <a:t>POST /api/qa</a:t>
            </a:r>
            <a:endParaRPr lang="en-US" sz="1197" dirty="0"/>
          </a:p>
          <a:p>
            <a:pPr indent="0" marL="0">
              <a:buNone/>
            </a:pPr>
            <a:r>
              <a:rPr lang="en-US" sz="1197" dirty="0">
                <a:solidFill>
                  <a:srgbClr val="334155"/>
                </a:solidFill>
              </a:rPr>
              <a:t>Main answer endpoint with question, filters, and evidence budget</a:t>
            </a:r>
            <a:endParaRPr lang="en-US" sz="1197" dirty="0"/>
          </a:p>
          <a:p>
            <a:pPr indent="0" marL="0">
              <a:buNone/>
            </a:pPr>
            <a:endParaRPr lang="en-US" sz="1197" dirty="0"/>
          </a:p>
          <a:p>
            <a:pPr indent="0" marL="0">
              <a:buNone/>
            </a:pPr>
            <a:r>
              <a:rPr lang="en-US" sz="1197" dirty="0">
                <a:solidFill>
                  <a:srgbClr val="334155"/>
                </a:solidFill>
              </a:rPr>
              <a:t>GET /api/sources/{source_type}/{source_id}</a:t>
            </a:r>
            <a:endParaRPr lang="en-US" sz="1197" dirty="0"/>
          </a:p>
          <a:p>
            <a:pPr indent="0" marL="0">
              <a:buNone/>
            </a:pPr>
            <a:r>
              <a:rPr lang="en-US" sz="1197" dirty="0">
                <a:solidFill>
                  <a:srgbClr val="334155"/>
                </a:solidFill>
              </a:rPr>
              <a:t>Inspect the cited source in local cache</a:t>
            </a:r>
            <a:endParaRPr lang="en-US" sz="1197" dirty="0"/>
          </a:p>
          <a:p>
            <a:pPr indent="0" marL="0">
              <a:buNone/>
            </a:pPr>
            <a:endParaRPr lang="en-US" sz="1197" dirty="0"/>
          </a:p>
          <a:p>
            <a:pPr indent="0" marL="0">
              <a:buNone/>
            </a:pPr>
            <a:r>
              <a:rPr lang="en-US" sz="1197" dirty="0">
                <a:solidFill>
                  <a:srgbClr val="334155"/>
                </a:solidFill>
              </a:rPr>
              <a:t>GET /api/health</a:t>
            </a:r>
            <a:endParaRPr lang="en-US" sz="1197" dirty="0"/>
          </a:p>
          <a:p>
            <a:pPr indent="0" marL="0">
              <a:buNone/>
            </a:pPr>
            <a:r>
              <a:rPr lang="en-US" sz="1197" dirty="0">
                <a:solidFill>
                  <a:srgbClr val="334155"/>
                </a:solidFill>
              </a:rPr>
              <a:t>Expose operational readiness, not just liveness</a:t>
            </a:r>
            <a:endParaRPr lang="en-US" sz="1197" dirty="0"/>
          </a:p>
        </p:txBody>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77056" y="1944624"/>
            <a:ext cx="7498080" cy="1524000"/>
          </a:xfrm>
          <a:prstGeom prst="rect">
            <a:avLst/>
          </a:prstGeom>
        </p:spPr>
      </p:pic>
      <p:sp>
        <p:nvSpPr>
          <p:cNvPr id="13" name="Shape 10"/>
          <p:cNvSpPr/>
          <p:nvPr/>
        </p:nvSpPr>
        <p:spPr>
          <a:xfrm>
            <a:off x="3877056" y="3694176"/>
            <a:ext cx="3657600" cy="1810512"/>
          </a:xfrm>
          <a:prstGeom prst="roundRect">
            <a:avLst>
              <a:gd name="adj" fmla="val 8081"/>
            </a:avLst>
          </a:prstGeom>
          <a:solidFill>
            <a:srgbClr val="DFF6F2"/>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4" name="Shape 11"/>
          <p:cNvSpPr/>
          <p:nvPr/>
        </p:nvSpPr>
        <p:spPr>
          <a:xfrm>
            <a:off x="3913632" y="3767328"/>
            <a:ext cx="73152" cy="1664208"/>
          </a:xfrm>
          <a:prstGeom prst="roundRect">
            <a:avLst>
              <a:gd name="adj" fmla="val 50000"/>
            </a:avLst>
          </a:prstGeom>
          <a:solidFill>
            <a:srgbClr val="0F766E"/>
          </a:solidFill>
          <a:ln w="12700">
            <a:solidFill>
              <a:srgbClr val="0F766E">
                <a:alpha val="0"/>
              </a:srgbClr>
            </a:solidFill>
            <a:prstDash val="solid"/>
          </a:ln>
        </p:spPr>
      </p:sp>
      <p:sp>
        <p:nvSpPr>
          <p:cNvPr id="15" name="Text 12"/>
          <p:cNvSpPr/>
          <p:nvPr/>
        </p:nvSpPr>
        <p:spPr>
          <a:xfrm>
            <a:off x="4059936" y="3840480"/>
            <a:ext cx="3383280" cy="274320"/>
          </a:xfrm>
          <a:prstGeom prst="rect">
            <a:avLst/>
          </a:prstGeom>
          <a:noFill/>
          <a:ln/>
        </p:spPr>
        <p:txBody>
          <a:bodyPr wrap="square" lIns="0" tIns="0" rIns="0" bIns="0" rtlCol="0" anchor="ctr"/>
          <a:lstStyle/>
          <a:p>
            <a:pPr indent="0" marL="0">
              <a:buNone/>
            </a:pPr>
            <a:r>
              <a:rPr lang="en-US" sz="1300" b="1" dirty="0">
                <a:solidFill>
                  <a:srgbClr val="111827"/>
                </a:solidFill>
              </a:rPr>
              <a:t>Design principle</a:t>
            </a:r>
            <a:endParaRPr lang="en-US" sz="1300" dirty="0"/>
          </a:p>
        </p:txBody>
      </p:sp>
      <p:sp>
        <p:nvSpPr>
          <p:cNvPr id="16" name="Text 13"/>
          <p:cNvSpPr/>
          <p:nvPr/>
        </p:nvSpPr>
        <p:spPr>
          <a:xfrm>
            <a:off x="4059936" y="4169664"/>
            <a:ext cx="3383280" cy="1170432"/>
          </a:xfrm>
          <a:prstGeom prst="rect">
            <a:avLst/>
          </a:prstGeom>
          <a:noFill/>
          <a:ln/>
        </p:spPr>
        <p:txBody>
          <a:bodyPr wrap="square" lIns="0" tIns="0" rIns="0" bIns="0" rtlCol="0" anchor="t"/>
          <a:lstStyle/>
          <a:p>
            <a:pPr indent="0" marL="0">
              <a:buNone/>
            </a:pPr>
            <a:r>
              <a:rPr lang="en-US" sz="1197" dirty="0">
                <a:solidFill>
                  <a:srgbClr val="334155"/>
                </a:solidFill>
              </a:rPr>
              <a:t>The main response should stay compact and useful, while evidence drill-down and operational state live in dedicated endpoints.</a:t>
            </a:r>
            <a:endParaRPr lang="en-US" sz="1197" dirty="0"/>
          </a:p>
        </p:txBody>
      </p:sp>
      <p:sp>
        <p:nvSpPr>
          <p:cNvPr id="17" name="Shape 14"/>
          <p:cNvSpPr/>
          <p:nvPr/>
        </p:nvSpPr>
        <p:spPr>
          <a:xfrm>
            <a:off x="7735824" y="3694176"/>
            <a:ext cx="3639312" cy="1810512"/>
          </a:xfrm>
          <a:prstGeom prst="roundRect">
            <a:avLst>
              <a:gd name="adj" fmla="val 8081"/>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8" name="Shape 15"/>
          <p:cNvSpPr/>
          <p:nvPr/>
        </p:nvSpPr>
        <p:spPr>
          <a:xfrm>
            <a:off x="7772400" y="3767328"/>
            <a:ext cx="73152" cy="1664208"/>
          </a:xfrm>
          <a:prstGeom prst="roundRect">
            <a:avLst>
              <a:gd name="adj" fmla="val 50000"/>
            </a:avLst>
          </a:prstGeom>
          <a:solidFill>
            <a:srgbClr val="0F766E"/>
          </a:solidFill>
          <a:ln w="12700">
            <a:solidFill>
              <a:srgbClr val="0F766E">
                <a:alpha val="0"/>
              </a:srgbClr>
            </a:solidFill>
            <a:prstDash val="solid"/>
          </a:ln>
        </p:spPr>
      </p:sp>
      <p:sp>
        <p:nvSpPr>
          <p:cNvPr id="19" name="Text 16"/>
          <p:cNvSpPr/>
          <p:nvPr/>
        </p:nvSpPr>
        <p:spPr>
          <a:xfrm>
            <a:off x="7918704" y="3840480"/>
            <a:ext cx="3364992" cy="274320"/>
          </a:xfrm>
          <a:prstGeom prst="rect">
            <a:avLst/>
          </a:prstGeom>
          <a:noFill/>
          <a:ln/>
        </p:spPr>
        <p:txBody>
          <a:bodyPr wrap="square" lIns="0" tIns="0" rIns="0" bIns="0" rtlCol="0" anchor="ctr"/>
          <a:lstStyle/>
          <a:p>
            <a:pPr indent="0" marL="0">
              <a:buNone/>
            </a:pPr>
            <a:r>
              <a:rPr lang="en-US" sz="1300" b="1" dirty="0">
                <a:solidFill>
                  <a:srgbClr val="111827"/>
                </a:solidFill>
              </a:rPr>
              <a:t>Why observability matters</a:t>
            </a:r>
            <a:endParaRPr lang="en-US" sz="1300" dirty="0"/>
          </a:p>
        </p:txBody>
      </p:sp>
      <p:sp>
        <p:nvSpPr>
          <p:cNvPr id="20" name="Text 17"/>
          <p:cNvSpPr/>
          <p:nvPr/>
        </p:nvSpPr>
        <p:spPr>
          <a:xfrm>
            <a:off x="7918704" y="4169664"/>
            <a:ext cx="3364992" cy="1170432"/>
          </a:xfrm>
          <a:prstGeom prst="rect">
            <a:avLst/>
          </a:prstGeom>
          <a:noFill/>
          <a:ln/>
        </p:spPr>
        <p:txBody>
          <a:bodyPr wrap="square" lIns="0" tIns="0" rIns="0" bIns="0" rtlCol="0" anchor="t"/>
          <a:lstStyle/>
          <a:p>
            <a:pPr indent="0" marL="0">
              <a:buNone/>
            </a:pPr>
            <a:r>
              <a:rPr lang="en-US" sz="1197" dirty="0">
                <a:solidFill>
                  <a:srgbClr val="334155"/>
                </a:solidFill>
              </a:rPr>
              <a:t>In clinical QA, you do not only want an answer. You want to know whether the answer came from routing, retrieval, ranking, generation, or fallback behavior.</a:t>
            </a:r>
            <a:endParaRPr lang="en-US" sz="1197" dirty="0"/>
          </a:p>
        </p:txBody>
      </p:sp>
      <p:sp>
        <p:nvSpPr>
          <p:cNvPr id="21" name="Shape 18"/>
          <p:cNvSpPr/>
          <p:nvPr/>
        </p:nvSpPr>
        <p:spPr>
          <a:xfrm>
            <a:off x="749808" y="5833872"/>
            <a:ext cx="10625328" cy="420624"/>
          </a:xfrm>
          <a:prstGeom prst="roundRect">
            <a:avLst>
              <a:gd name="adj" fmla="val 30435"/>
            </a:avLst>
          </a:prstGeom>
          <a:solidFill>
            <a:srgbClr val="FFFFFF"/>
          </a:solidFill>
          <a:ln w="12700">
            <a:solidFill>
              <a:srgbClr val="CBD5E1"/>
            </a:solidFill>
            <a:prstDash val="solid"/>
          </a:ln>
        </p:spPr>
      </p:sp>
      <p:sp>
        <p:nvSpPr>
          <p:cNvPr id="22" name="Text 19"/>
          <p:cNvSpPr/>
          <p:nvPr/>
        </p:nvSpPr>
        <p:spPr>
          <a:xfrm>
            <a:off x="932688" y="5943600"/>
            <a:ext cx="749808" cy="146304"/>
          </a:xfrm>
          <a:prstGeom prst="rect">
            <a:avLst/>
          </a:prstGeom>
          <a:noFill/>
          <a:ln/>
        </p:spPr>
        <p:txBody>
          <a:bodyPr wrap="square" lIns="0" tIns="0" rIns="0" bIns="0" rtlCol="0" anchor="ctr"/>
          <a:lstStyle/>
          <a:p>
            <a:pPr indent="0" marL="0">
              <a:buNone/>
            </a:pPr>
            <a:r>
              <a:rPr lang="en-US" sz="860" b="1" dirty="0">
                <a:solidFill>
                  <a:srgbClr val="115E59"/>
                </a:solidFill>
                <a:latin typeface="Lato" pitchFamily="34" charset="0"/>
                <a:ea typeface="Lato" pitchFamily="34" charset="-122"/>
                <a:cs typeface="Lato" pitchFamily="34" charset="-120"/>
              </a:rPr>
              <a:t>Show live:</a:t>
            </a:r>
            <a:endParaRPr lang="en-US" sz="860" dirty="0"/>
          </a:p>
        </p:txBody>
      </p:sp>
      <p:sp>
        <p:nvSpPr>
          <p:cNvPr id="23" name="Text 20"/>
          <p:cNvSpPr/>
          <p:nvPr/>
        </p:nvSpPr>
        <p:spPr>
          <a:xfrm>
            <a:off x="1938528" y="5943600"/>
            <a:ext cx="9034272" cy="146304"/>
          </a:xfrm>
          <a:prstGeom prst="rect">
            <a:avLst/>
          </a:prstGeom>
          <a:noFill/>
          <a:ln/>
        </p:spPr>
        <p:txBody>
          <a:bodyPr wrap="square" lIns="0" tIns="0" rIns="0" bIns="0" rtlCol="0" anchor="ctr"/>
          <a:lstStyle/>
          <a:p>
            <a:pPr indent="0" marL="0">
              <a:buNone/>
            </a:pPr>
            <a:r>
              <a:rPr lang="en-US" sz="820" dirty="0">
                <a:solidFill>
                  <a:srgbClr val="334155"/>
                </a:solidFill>
                <a:latin typeface="DejaVu Sans Mono" pitchFamily="34" charset="0"/>
                <a:ea typeface="DejaVu Sans Mono" pitchFamily="34" charset="-122"/>
                <a:cs typeface="DejaVu Sans Mono" pitchFamily="34" charset="-120"/>
              </a:rPr>
              <a:t>backend/app/main.py · backend/app/services/qa.py</a:t>
            </a:r>
            <a:endParaRPr lang="en-US" sz="820" dirty="0"/>
          </a:p>
        </p:txBody>
      </p:sp>
      <p:sp>
        <p:nvSpPr>
          <p:cNvPr id="24" name="Shape 21"/>
          <p:cNvSpPr/>
          <p:nvPr/>
        </p:nvSpPr>
        <p:spPr>
          <a:xfrm>
            <a:off x="640080" y="6419088"/>
            <a:ext cx="10927080" cy="0"/>
          </a:xfrm>
          <a:prstGeom prst="line">
            <a:avLst/>
          </a:prstGeom>
          <a:noFill/>
          <a:ln w="12700">
            <a:solidFill>
              <a:srgbClr val="CBD5E1"/>
            </a:solidFill>
            <a:prstDash val="solid"/>
          </a:ln>
        </p:spPr>
      </p:sp>
      <p:sp>
        <p:nvSpPr>
          <p:cNvPr id="25" name="Text 22"/>
          <p:cNvSpPr/>
          <p:nvPr/>
        </p:nvSpPr>
        <p:spPr>
          <a:xfrm>
            <a:off x="658368" y="6473952"/>
            <a:ext cx="4480560" cy="164592"/>
          </a:xfrm>
          <a:prstGeom prst="rect">
            <a:avLst/>
          </a:prstGeom>
          <a:noFill/>
          <a:ln/>
        </p:spPr>
        <p:txBody>
          <a:bodyPr wrap="square" lIns="0" tIns="0" rIns="0" bIns="0" rtlCol="0" anchor="ctr"/>
          <a:lstStyle/>
          <a:p>
            <a:pPr indent="0" marL="0">
              <a:buNone/>
            </a:pPr>
            <a:r>
              <a:rPr lang="en-US" sz="800" dirty="0">
                <a:solidFill>
                  <a:srgbClr val="64748B"/>
                </a:solidFill>
                <a:latin typeface="Lato" pitchFamily="34" charset="0"/>
                <a:ea typeface="Lato" pitchFamily="34" charset="-122"/>
                <a:cs typeface="Lato" pitchFamily="34" charset="-120"/>
              </a:rPr>
              <a:t>Slide 3 · API design and lifecycle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5EF"/>
          </a:solidFill>
          <a:ln w="12700">
            <a:solidFill>
              <a:srgbClr val="F7F5EF"/>
            </a:solidFill>
            <a:prstDash val="solid"/>
          </a:ln>
        </p:spPr>
      </p:sp>
      <p:sp>
        <p:nvSpPr>
          <p:cNvPr id="3" name="Shape 1"/>
          <p:cNvSpPr/>
          <p:nvPr/>
        </p:nvSpPr>
        <p:spPr>
          <a:xfrm>
            <a:off x="566928" y="384048"/>
            <a:ext cx="950976" cy="73152"/>
          </a:xfrm>
          <a:prstGeom prst="roundRect">
            <a:avLst>
              <a:gd name="adj" fmla="val 50000"/>
            </a:avLst>
          </a:prstGeom>
          <a:solidFill>
            <a:srgbClr val="0F766E"/>
          </a:solidFill>
          <a:ln w="12700">
            <a:solidFill>
              <a:srgbClr val="0F766E">
                <a:alpha val="0"/>
              </a:srgbClr>
            </a:solidFill>
            <a:prstDash val="solid"/>
          </a:ln>
        </p:spPr>
      </p:sp>
      <p:sp>
        <p:nvSpPr>
          <p:cNvPr id="4" name="Text 2"/>
          <p:cNvSpPr/>
          <p:nvPr/>
        </p:nvSpPr>
        <p:spPr>
          <a:xfrm>
            <a:off x="640080" y="512064"/>
            <a:ext cx="2377440" cy="201168"/>
          </a:xfrm>
          <a:prstGeom prst="rect">
            <a:avLst/>
          </a:prstGeom>
          <a:noFill/>
          <a:ln/>
        </p:spPr>
        <p:txBody>
          <a:bodyPr wrap="square" lIns="0" tIns="0" rIns="0" bIns="0" rtlCol="0" anchor="ctr"/>
          <a:lstStyle/>
          <a:p>
            <a:pPr indent="0" marL="0">
              <a:buNone/>
            </a:pPr>
            <a:r>
              <a:rPr lang="en-US" sz="880" b="1" dirty="0">
                <a:solidFill>
                  <a:srgbClr val="0F766E"/>
                </a:solidFill>
                <a:latin typeface="Lato" pitchFamily="34" charset="0"/>
                <a:ea typeface="Lato" pitchFamily="34" charset="-122"/>
                <a:cs typeface="Lato" pitchFamily="34" charset="-120"/>
              </a:rPr>
              <a:t>CLINICALTRIALS.GOV</a:t>
            </a:r>
            <a:endParaRPr lang="en-US" sz="880" dirty="0"/>
          </a:p>
        </p:txBody>
      </p:sp>
      <p:sp>
        <p:nvSpPr>
          <p:cNvPr id="5" name="Text 3"/>
          <p:cNvSpPr/>
          <p:nvPr/>
        </p:nvSpPr>
        <p:spPr>
          <a:xfrm>
            <a:off x="640080" y="768096"/>
            <a:ext cx="7498080" cy="694944"/>
          </a:xfrm>
          <a:prstGeom prst="rect">
            <a:avLst/>
          </a:prstGeom>
          <a:noFill/>
          <a:ln/>
        </p:spPr>
        <p:txBody>
          <a:bodyPr wrap="square" lIns="0" tIns="0" rIns="0" bIns="0" rtlCol="0" anchor="ctr"/>
          <a:lstStyle/>
          <a:p>
            <a:pPr indent="0" marL="0">
              <a:buNone/>
            </a:pPr>
            <a:r>
              <a:rPr lang="en-US" sz="2616" b="1" dirty="0">
                <a:solidFill>
                  <a:srgbClr val="111827"/>
                </a:solidFill>
              </a:rPr>
              <a:t>How I Structure Queries Against ClinicalTrials.gov</a:t>
            </a:r>
            <a:endParaRPr lang="en-US" sz="2616" dirty="0"/>
          </a:p>
        </p:txBody>
      </p:sp>
      <p:sp>
        <p:nvSpPr>
          <p:cNvPr id="6" name="Text 4"/>
          <p:cNvSpPr/>
          <p:nvPr/>
        </p:nvSpPr>
        <p:spPr>
          <a:xfrm>
            <a:off x="676656" y="1481328"/>
            <a:ext cx="7040880" cy="310896"/>
          </a:xfrm>
          <a:prstGeom prst="rect">
            <a:avLst/>
          </a:prstGeom>
          <a:noFill/>
          <a:ln/>
        </p:spPr>
        <p:txBody>
          <a:bodyPr wrap="square" lIns="0" tIns="0" rIns="0" bIns="0" rtlCol="0" anchor="ctr"/>
          <a:lstStyle/>
          <a:p>
            <a:pPr indent="0" marL="0">
              <a:buNone/>
            </a:pPr>
            <a:r>
              <a:rPr lang="en-US" sz="1120" dirty="0">
                <a:solidFill>
                  <a:srgbClr val="334155"/>
                </a:solidFill>
              </a:rPr>
              <a:t>Treat the trial registry as a structured source, not as generic keyword search.</a:t>
            </a:r>
            <a:endParaRPr lang="en-US" sz="1120" dirty="0"/>
          </a:p>
        </p:txBody>
      </p:sp>
      <p:sp>
        <p:nvSpPr>
          <p:cNvPr id="7" name="Text 5"/>
          <p:cNvSpPr/>
          <p:nvPr/>
        </p:nvSpPr>
        <p:spPr>
          <a:xfrm>
            <a:off x="11247120" y="457200"/>
            <a:ext cx="411480" cy="201168"/>
          </a:xfrm>
          <a:prstGeom prst="rect">
            <a:avLst/>
          </a:prstGeom>
          <a:noFill/>
          <a:ln/>
        </p:spPr>
        <p:txBody>
          <a:bodyPr wrap="square" lIns="0" tIns="0" rIns="0" bIns="0" rtlCol="0" anchor="ctr"/>
          <a:lstStyle/>
          <a:p>
            <a:pPr algn="r" indent="0" marL="0">
              <a:buNone/>
            </a:pPr>
            <a:r>
              <a:rPr lang="en-US" sz="900" dirty="0">
                <a:solidFill>
                  <a:srgbClr val="64748B"/>
                </a:solidFill>
                <a:latin typeface="Lato" pitchFamily="34" charset="0"/>
                <a:ea typeface="Lato" pitchFamily="34" charset="-122"/>
                <a:cs typeface="Lato" pitchFamily="34" charset="-120"/>
              </a:rPr>
              <a:t>04</a:t>
            </a:r>
            <a:endParaRPr lang="en-US" sz="900" dirty="0"/>
          </a:p>
        </p:txBody>
      </p:sp>
      <p:sp>
        <p:nvSpPr>
          <p:cNvPr id="8" name="Shape 6"/>
          <p:cNvSpPr/>
          <p:nvPr/>
        </p:nvSpPr>
        <p:spPr>
          <a:xfrm>
            <a:off x="768096" y="1883664"/>
            <a:ext cx="3310128" cy="3602736"/>
          </a:xfrm>
          <a:prstGeom prst="roundRect">
            <a:avLst>
              <a:gd name="adj" fmla="val 4420"/>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9" name="Shape 7"/>
          <p:cNvSpPr/>
          <p:nvPr/>
        </p:nvSpPr>
        <p:spPr>
          <a:xfrm>
            <a:off x="804672" y="1956816"/>
            <a:ext cx="73152" cy="3456432"/>
          </a:xfrm>
          <a:prstGeom prst="roundRect">
            <a:avLst>
              <a:gd name="adj" fmla="val 50000"/>
            </a:avLst>
          </a:prstGeom>
          <a:solidFill>
            <a:srgbClr val="0F766E"/>
          </a:solidFill>
          <a:ln w="12700">
            <a:solidFill>
              <a:srgbClr val="0F766E">
                <a:alpha val="0"/>
              </a:srgbClr>
            </a:solidFill>
            <a:prstDash val="solid"/>
          </a:ln>
        </p:spPr>
      </p:sp>
      <p:sp>
        <p:nvSpPr>
          <p:cNvPr id="10" name="Text 8"/>
          <p:cNvSpPr/>
          <p:nvPr/>
        </p:nvSpPr>
        <p:spPr>
          <a:xfrm>
            <a:off x="950976" y="2029968"/>
            <a:ext cx="3035808" cy="274320"/>
          </a:xfrm>
          <a:prstGeom prst="rect">
            <a:avLst/>
          </a:prstGeom>
          <a:noFill/>
          <a:ln/>
        </p:spPr>
        <p:txBody>
          <a:bodyPr wrap="square" lIns="0" tIns="0" rIns="0" bIns="0" rtlCol="0" anchor="ctr"/>
          <a:lstStyle/>
          <a:p>
            <a:pPr indent="0" marL="0">
              <a:buNone/>
            </a:pPr>
            <a:r>
              <a:rPr lang="en-US" sz="1300" b="1" dirty="0">
                <a:solidFill>
                  <a:srgbClr val="111827"/>
                </a:solidFill>
              </a:rPr>
              <a:t>Query planning</a:t>
            </a:r>
            <a:endParaRPr lang="en-US" sz="1300" dirty="0"/>
          </a:p>
        </p:txBody>
      </p:sp>
      <p:sp>
        <p:nvSpPr>
          <p:cNvPr id="11" name="Text 9"/>
          <p:cNvSpPr/>
          <p:nvPr/>
        </p:nvSpPr>
        <p:spPr>
          <a:xfrm>
            <a:off x="950976" y="2359152"/>
            <a:ext cx="3035808" cy="2962656"/>
          </a:xfrm>
          <a:prstGeom prst="rect">
            <a:avLst/>
          </a:prstGeom>
          <a:noFill/>
          <a:ln/>
        </p:spPr>
        <p:txBody>
          <a:bodyPr wrap="square" lIns="0" tIns="0" rIns="0" bIns="0" rtlCol="0" anchor="t"/>
          <a:lstStyle/>
          <a:p>
            <a:pPr indent="0" marL="0">
              <a:buNone/>
            </a:pPr>
            <a:r>
              <a:rPr lang="en-US" sz="1197" dirty="0">
                <a:solidFill>
                  <a:srgbClr val="334155"/>
                </a:solidFill>
              </a:rPr>
              <a:t>Use registry-aware fields first:</a:t>
            </a:r>
            <a:endParaRPr lang="en-US" sz="1197" dirty="0"/>
          </a:p>
          <a:p>
            <a:pPr indent="0" marL="0">
              <a:buNone/>
            </a:pPr>
            <a:r>
              <a:rPr lang="en-US" sz="1197" dirty="0">
                <a:solidFill>
                  <a:srgbClr val="334155"/>
                </a:solidFill>
              </a:rPr>
              <a:t>query.cond</a:t>
            </a:r>
            <a:endParaRPr lang="en-US" sz="1197" dirty="0"/>
          </a:p>
          <a:p>
            <a:pPr indent="0" marL="0">
              <a:buNone/>
            </a:pPr>
            <a:r>
              <a:rPr lang="en-US" sz="1197" dirty="0">
                <a:solidFill>
                  <a:srgbClr val="334155"/>
                </a:solidFill>
              </a:rPr>
              <a:t>query.intr</a:t>
            </a:r>
            <a:endParaRPr lang="en-US" sz="1197" dirty="0"/>
          </a:p>
          <a:p>
            <a:pPr indent="0" marL="0">
              <a:buNone/>
            </a:pPr>
            <a:r>
              <a:rPr lang="en-US" sz="1197" dirty="0">
                <a:solidFill>
                  <a:srgbClr val="334155"/>
                </a:solidFill>
              </a:rPr>
              <a:t>query.term fallback</a:t>
            </a:r>
            <a:endParaRPr lang="en-US" sz="1197" dirty="0"/>
          </a:p>
          <a:p>
            <a:pPr indent="0" marL="0">
              <a:buNone/>
            </a:pPr>
            <a:endParaRPr lang="en-US" sz="1197" dirty="0"/>
          </a:p>
          <a:p>
            <a:pPr indent="0" marL="0">
              <a:buNone/>
            </a:pPr>
            <a:r>
              <a:rPr lang="en-US" sz="1197" dirty="0">
                <a:solidFill>
                  <a:srgbClr val="334155"/>
                </a:solidFill>
              </a:rPr>
              <a:t>Translate the question into condition, intervention, and status intent instead of passing the raw sentence.</a:t>
            </a:r>
            <a:endParaRPr lang="en-US" sz="1197" dirty="0"/>
          </a:p>
        </p:txBody>
      </p:sp>
      <p:sp>
        <p:nvSpPr>
          <p:cNvPr id="12" name="Shape 10"/>
          <p:cNvSpPr/>
          <p:nvPr/>
        </p:nvSpPr>
        <p:spPr>
          <a:xfrm>
            <a:off x="4261104" y="1883664"/>
            <a:ext cx="3310128" cy="3602736"/>
          </a:xfrm>
          <a:prstGeom prst="roundRect">
            <a:avLst>
              <a:gd name="adj" fmla="val 4420"/>
            </a:avLst>
          </a:prstGeom>
          <a:solidFill>
            <a:srgbClr val="DFF6F2"/>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3" name="Shape 11"/>
          <p:cNvSpPr/>
          <p:nvPr/>
        </p:nvSpPr>
        <p:spPr>
          <a:xfrm>
            <a:off x="4297680" y="1956816"/>
            <a:ext cx="73152" cy="3456432"/>
          </a:xfrm>
          <a:prstGeom prst="roundRect">
            <a:avLst>
              <a:gd name="adj" fmla="val 50000"/>
            </a:avLst>
          </a:prstGeom>
          <a:solidFill>
            <a:srgbClr val="0F766E"/>
          </a:solidFill>
          <a:ln w="12700">
            <a:solidFill>
              <a:srgbClr val="0F766E">
                <a:alpha val="0"/>
              </a:srgbClr>
            </a:solidFill>
            <a:prstDash val="solid"/>
          </a:ln>
        </p:spPr>
      </p:sp>
      <p:sp>
        <p:nvSpPr>
          <p:cNvPr id="14" name="Text 12"/>
          <p:cNvSpPr/>
          <p:nvPr/>
        </p:nvSpPr>
        <p:spPr>
          <a:xfrm>
            <a:off x="4443984" y="2029968"/>
            <a:ext cx="3035808" cy="274320"/>
          </a:xfrm>
          <a:prstGeom prst="rect">
            <a:avLst/>
          </a:prstGeom>
          <a:noFill/>
          <a:ln/>
        </p:spPr>
        <p:txBody>
          <a:bodyPr wrap="square" lIns="0" tIns="0" rIns="0" bIns="0" rtlCol="0" anchor="ctr"/>
          <a:lstStyle/>
          <a:p>
            <a:pPr indent="0" marL="0">
              <a:buNone/>
            </a:pPr>
            <a:r>
              <a:rPr lang="en-US" sz="1300" b="1" dirty="0">
                <a:solidFill>
                  <a:srgbClr val="111827"/>
                </a:solidFill>
              </a:rPr>
              <a:t>Status-aware behavior</a:t>
            </a:r>
            <a:endParaRPr lang="en-US" sz="1300" dirty="0"/>
          </a:p>
        </p:txBody>
      </p:sp>
      <p:sp>
        <p:nvSpPr>
          <p:cNvPr id="15" name="Text 13"/>
          <p:cNvSpPr/>
          <p:nvPr/>
        </p:nvSpPr>
        <p:spPr>
          <a:xfrm>
            <a:off x="4443984" y="2359152"/>
            <a:ext cx="3035808" cy="2962656"/>
          </a:xfrm>
          <a:prstGeom prst="rect">
            <a:avLst/>
          </a:prstGeom>
          <a:noFill/>
          <a:ln/>
        </p:spPr>
        <p:txBody>
          <a:bodyPr wrap="square" lIns="0" tIns="0" rIns="0" bIns="0" rtlCol="0" anchor="t"/>
          <a:lstStyle/>
          <a:p>
            <a:pPr indent="0" marL="0">
              <a:buNone/>
            </a:pPr>
            <a:r>
              <a:rPr lang="en-US" sz="1197" dirty="0">
                <a:solidFill>
                  <a:srgbClr val="334155"/>
                </a:solidFill>
              </a:rPr>
              <a:t>Recruiting and ongoing questions should influence retrieval planning early.</a:t>
            </a:r>
            <a:endParaRPr lang="en-US" sz="1197" dirty="0"/>
          </a:p>
          <a:p>
            <a:pPr indent="0" marL="0">
              <a:buNone/>
            </a:pPr>
            <a:endParaRPr lang="en-US" sz="1197" dirty="0"/>
          </a:p>
          <a:p>
            <a:pPr indent="0" marL="0">
              <a:buNone/>
            </a:pPr>
            <a:r>
              <a:rPr lang="en-US" sz="1197" dirty="0">
                <a:solidFill>
                  <a:srgbClr val="334155"/>
                </a:solidFill>
              </a:rPr>
              <a:t>That means filtering during retrieval, not only after truncation.</a:t>
            </a:r>
            <a:endParaRPr lang="en-US" sz="1197" dirty="0"/>
          </a:p>
          <a:p>
            <a:pPr indent="0" marL="0">
              <a:buNone/>
            </a:pPr>
            <a:endParaRPr lang="en-US" sz="1197" dirty="0"/>
          </a:p>
          <a:p>
            <a:pPr indent="0" marL="0">
              <a:buNone/>
            </a:pPr>
            <a:r>
              <a:rPr lang="en-US" sz="1197" dirty="0">
                <a:solidFill>
                  <a:srgbClr val="334155"/>
                </a:solidFill>
              </a:rPr>
              <a:t>This is where a lot of subtle false negatives come from.</a:t>
            </a:r>
            <a:endParaRPr lang="en-US" sz="1197" dirty="0"/>
          </a:p>
        </p:txBody>
      </p:sp>
      <p:sp>
        <p:nvSpPr>
          <p:cNvPr id="16" name="Shape 14"/>
          <p:cNvSpPr/>
          <p:nvPr/>
        </p:nvSpPr>
        <p:spPr>
          <a:xfrm>
            <a:off x="7754112" y="1883664"/>
            <a:ext cx="3621024" cy="1627632"/>
          </a:xfrm>
          <a:prstGeom prst="roundRect">
            <a:avLst>
              <a:gd name="adj" fmla="val 8989"/>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7" name="Shape 15"/>
          <p:cNvSpPr/>
          <p:nvPr/>
        </p:nvSpPr>
        <p:spPr>
          <a:xfrm>
            <a:off x="7790688" y="1956816"/>
            <a:ext cx="73152" cy="1481328"/>
          </a:xfrm>
          <a:prstGeom prst="roundRect">
            <a:avLst>
              <a:gd name="adj" fmla="val 50000"/>
            </a:avLst>
          </a:prstGeom>
          <a:solidFill>
            <a:srgbClr val="0F766E"/>
          </a:solidFill>
          <a:ln w="12700">
            <a:solidFill>
              <a:srgbClr val="0F766E">
                <a:alpha val="0"/>
              </a:srgbClr>
            </a:solidFill>
            <a:prstDash val="solid"/>
          </a:ln>
        </p:spPr>
      </p:sp>
      <p:sp>
        <p:nvSpPr>
          <p:cNvPr id="18" name="Text 16"/>
          <p:cNvSpPr/>
          <p:nvPr/>
        </p:nvSpPr>
        <p:spPr>
          <a:xfrm>
            <a:off x="7936992" y="2029968"/>
            <a:ext cx="3346704" cy="274320"/>
          </a:xfrm>
          <a:prstGeom prst="rect">
            <a:avLst/>
          </a:prstGeom>
          <a:noFill/>
          <a:ln/>
        </p:spPr>
        <p:txBody>
          <a:bodyPr wrap="square" lIns="0" tIns="0" rIns="0" bIns="0" rtlCol="0" anchor="ctr"/>
          <a:lstStyle/>
          <a:p>
            <a:pPr indent="0" marL="0">
              <a:buNone/>
            </a:pPr>
            <a:r>
              <a:rPr lang="en-US" sz="1300" b="1" dirty="0">
                <a:solidFill>
                  <a:srgbClr val="111827"/>
                </a:solidFill>
              </a:rPr>
              <a:t>Normalized snippet types</a:t>
            </a:r>
            <a:endParaRPr lang="en-US" sz="1300" dirty="0"/>
          </a:p>
        </p:txBody>
      </p:sp>
      <p:sp>
        <p:nvSpPr>
          <p:cNvPr id="19" name="Text 17"/>
          <p:cNvSpPr/>
          <p:nvPr/>
        </p:nvSpPr>
        <p:spPr>
          <a:xfrm>
            <a:off x="7936992" y="2359152"/>
            <a:ext cx="3346704" cy="987552"/>
          </a:xfrm>
          <a:prstGeom prst="rect">
            <a:avLst/>
          </a:prstGeom>
          <a:noFill/>
          <a:ln/>
        </p:spPr>
        <p:txBody>
          <a:bodyPr wrap="square" lIns="0" tIns="0" rIns="0" bIns="0" rtlCol="0" anchor="t"/>
          <a:lstStyle/>
          <a:p>
            <a:pPr indent="0" marL="0">
              <a:buNone/>
            </a:pPr>
            <a:r>
              <a:rPr lang="en-US" sz="1138" dirty="0">
                <a:solidFill>
                  <a:srgbClr val="334155"/>
                </a:solidFill>
              </a:rPr>
              <a:t>status</a:t>
            </a:r>
            <a:endParaRPr lang="en-US" sz="1138" dirty="0"/>
          </a:p>
          <a:p>
            <a:pPr indent="0" marL="0">
              <a:buNone/>
            </a:pPr>
            <a:r>
              <a:rPr lang="en-US" sz="1138" dirty="0">
                <a:solidFill>
                  <a:srgbClr val="334155"/>
                </a:solidFill>
              </a:rPr>
              <a:t>summary</a:t>
            </a:r>
            <a:endParaRPr lang="en-US" sz="1138" dirty="0"/>
          </a:p>
          <a:p>
            <a:pPr indent="0" marL="0">
              <a:buNone/>
            </a:pPr>
            <a:r>
              <a:rPr lang="en-US" sz="1138" dirty="0">
                <a:solidFill>
                  <a:srgbClr val="334155"/>
                </a:solidFill>
              </a:rPr>
              <a:t>eligibility</a:t>
            </a:r>
            <a:endParaRPr lang="en-US" sz="1138" dirty="0"/>
          </a:p>
          <a:p>
            <a:pPr indent="0" marL="0">
              <a:buNone/>
            </a:pPr>
            <a:r>
              <a:rPr lang="en-US" sz="1138" dirty="0">
                <a:solidFill>
                  <a:srgbClr val="334155"/>
                </a:solidFill>
              </a:rPr>
              <a:t>outcomes</a:t>
            </a:r>
            <a:endParaRPr lang="en-US" sz="1138" dirty="0"/>
          </a:p>
        </p:txBody>
      </p:sp>
      <p:sp>
        <p:nvSpPr>
          <p:cNvPr id="20" name="Shape 18"/>
          <p:cNvSpPr/>
          <p:nvPr/>
        </p:nvSpPr>
        <p:spPr>
          <a:xfrm>
            <a:off x="7754112" y="3675888"/>
            <a:ext cx="3621024" cy="1810512"/>
          </a:xfrm>
          <a:prstGeom prst="roundRect">
            <a:avLst>
              <a:gd name="adj" fmla="val 8081"/>
            </a:avLst>
          </a:prstGeom>
          <a:solidFill>
            <a:srgbClr val="FDE7E7"/>
          </a:solidFill>
          <a:ln w="14605">
            <a:solidFill>
              <a:srgbClr val="F3C5C5"/>
            </a:solidFill>
            <a:prstDash val="solid"/>
          </a:ln>
          <a:effectLst>
            <a:outerShdw sx="100000" sy="100000" kx="0" ky="0" algn="bl" rotWithShape="0" blurRad="19050" dist="12700" dir="2700000">
              <a:srgbClr val="000000">
                <a:alpha val="7000"/>
              </a:srgbClr>
            </a:outerShdw>
          </a:effectLst>
        </p:spPr>
      </p:sp>
      <p:sp>
        <p:nvSpPr>
          <p:cNvPr id="21" name="Shape 19"/>
          <p:cNvSpPr/>
          <p:nvPr/>
        </p:nvSpPr>
        <p:spPr>
          <a:xfrm>
            <a:off x="7790688" y="3749040"/>
            <a:ext cx="73152" cy="1664208"/>
          </a:xfrm>
          <a:prstGeom prst="roundRect">
            <a:avLst>
              <a:gd name="adj" fmla="val 50000"/>
            </a:avLst>
          </a:prstGeom>
          <a:solidFill>
            <a:srgbClr val="B91C1C"/>
          </a:solidFill>
          <a:ln w="12700">
            <a:solidFill>
              <a:srgbClr val="B91C1C">
                <a:alpha val="0"/>
              </a:srgbClr>
            </a:solidFill>
            <a:prstDash val="solid"/>
          </a:ln>
        </p:spPr>
      </p:sp>
      <p:sp>
        <p:nvSpPr>
          <p:cNvPr id="22" name="Text 20"/>
          <p:cNvSpPr/>
          <p:nvPr/>
        </p:nvSpPr>
        <p:spPr>
          <a:xfrm>
            <a:off x="7936992" y="3822192"/>
            <a:ext cx="3346704" cy="274320"/>
          </a:xfrm>
          <a:prstGeom prst="rect">
            <a:avLst/>
          </a:prstGeom>
          <a:noFill/>
          <a:ln/>
        </p:spPr>
        <p:txBody>
          <a:bodyPr wrap="square" lIns="0" tIns="0" rIns="0" bIns="0" rtlCol="0" anchor="ctr"/>
          <a:lstStyle/>
          <a:p>
            <a:pPr indent="0" marL="0">
              <a:buNone/>
            </a:pPr>
            <a:r>
              <a:rPr lang="en-US" sz="1300" b="1" dirty="0">
                <a:solidFill>
                  <a:srgbClr val="111827"/>
                </a:solidFill>
              </a:rPr>
              <a:t>Concrete bug worth mentioning</a:t>
            </a:r>
            <a:endParaRPr lang="en-US" sz="1300" dirty="0"/>
          </a:p>
        </p:txBody>
      </p:sp>
      <p:sp>
        <p:nvSpPr>
          <p:cNvPr id="23" name="Text 21"/>
          <p:cNvSpPr/>
          <p:nvPr/>
        </p:nvSpPr>
        <p:spPr>
          <a:xfrm>
            <a:off x="7936992" y="4151376"/>
            <a:ext cx="3346704" cy="1170432"/>
          </a:xfrm>
          <a:prstGeom prst="rect">
            <a:avLst/>
          </a:prstGeom>
          <a:noFill/>
          <a:ln/>
        </p:spPr>
        <p:txBody>
          <a:bodyPr wrap="square" lIns="0" tIns="0" rIns="0" bIns="0" rtlCol="0" anchor="t"/>
          <a:lstStyle/>
          <a:p>
            <a:pPr indent="0" marL="0">
              <a:buNone/>
            </a:pPr>
            <a:r>
              <a:rPr lang="en-US" sz="1197" dirty="0">
                <a:solidFill>
                  <a:srgbClr val="334155"/>
                </a:solidFill>
              </a:rPr>
              <a:t>If you retrieve only a few studies first and filter for recruiting afterward, you can miss the real recruiting matches. I fixed that exact issue in this repo.</a:t>
            </a:r>
            <a:endParaRPr lang="en-US" sz="1197" dirty="0"/>
          </a:p>
        </p:txBody>
      </p:sp>
      <p:sp>
        <p:nvSpPr>
          <p:cNvPr id="24" name="Shape 22"/>
          <p:cNvSpPr/>
          <p:nvPr/>
        </p:nvSpPr>
        <p:spPr>
          <a:xfrm>
            <a:off x="749808" y="5833872"/>
            <a:ext cx="10625328" cy="420624"/>
          </a:xfrm>
          <a:prstGeom prst="roundRect">
            <a:avLst>
              <a:gd name="adj" fmla="val 30435"/>
            </a:avLst>
          </a:prstGeom>
          <a:solidFill>
            <a:srgbClr val="FFFFFF"/>
          </a:solidFill>
          <a:ln w="12700">
            <a:solidFill>
              <a:srgbClr val="CBD5E1"/>
            </a:solidFill>
            <a:prstDash val="solid"/>
          </a:ln>
        </p:spPr>
      </p:sp>
      <p:sp>
        <p:nvSpPr>
          <p:cNvPr id="25" name="Text 23"/>
          <p:cNvSpPr/>
          <p:nvPr/>
        </p:nvSpPr>
        <p:spPr>
          <a:xfrm>
            <a:off x="932688" y="5943600"/>
            <a:ext cx="749808" cy="146304"/>
          </a:xfrm>
          <a:prstGeom prst="rect">
            <a:avLst/>
          </a:prstGeom>
          <a:noFill/>
          <a:ln/>
        </p:spPr>
        <p:txBody>
          <a:bodyPr wrap="square" lIns="0" tIns="0" rIns="0" bIns="0" rtlCol="0" anchor="ctr"/>
          <a:lstStyle/>
          <a:p>
            <a:pPr indent="0" marL="0">
              <a:buNone/>
            </a:pPr>
            <a:r>
              <a:rPr lang="en-US" sz="860" b="1" dirty="0">
                <a:solidFill>
                  <a:srgbClr val="115E59"/>
                </a:solidFill>
                <a:latin typeface="Lato" pitchFamily="34" charset="0"/>
                <a:ea typeface="Lato" pitchFamily="34" charset="-122"/>
                <a:cs typeface="Lato" pitchFamily="34" charset="-120"/>
              </a:rPr>
              <a:t>Show live:</a:t>
            </a:r>
            <a:endParaRPr lang="en-US" sz="860" dirty="0"/>
          </a:p>
        </p:txBody>
      </p:sp>
      <p:sp>
        <p:nvSpPr>
          <p:cNvPr id="26" name="Text 24"/>
          <p:cNvSpPr/>
          <p:nvPr/>
        </p:nvSpPr>
        <p:spPr>
          <a:xfrm>
            <a:off x="1938528" y="5943600"/>
            <a:ext cx="9034272" cy="146304"/>
          </a:xfrm>
          <a:prstGeom prst="rect">
            <a:avLst/>
          </a:prstGeom>
          <a:noFill/>
          <a:ln/>
        </p:spPr>
        <p:txBody>
          <a:bodyPr wrap="square" lIns="0" tIns="0" rIns="0" bIns="0" rtlCol="0" anchor="ctr"/>
          <a:lstStyle/>
          <a:p>
            <a:pPr indent="0" marL="0">
              <a:buNone/>
            </a:pPr>
            <a:r>
              <a:rPr lang="en-US" sz="820" dirty="0">
                <a:solidFill>
                  <a:srgbClr val="334155"/>
                </a:solidFill>
                <a:latin typeface="DejaVu Sans Mono" pitchFamily="34" charset="0"/>
                <a:ea typeface="DejaVu Sans Mono" pitchFamily="34" charset="-122"/>
                <a:cs typeface="DejaVu Sans Mono" pitchFamily="34" charset="-120"/>
              </a:rPr>
              <a:t>backend/app/services/clinicaltrials.py</a:t>
            </a:r>
            <a:endParaRPr lang="en-US" sz="820" dirty="0"/>
          </a:p>
        </p:txBody>
      </p:sp>
      <p:sp>
        <p:nvSpPr>
          <p:cNvPr id="27" name="Shape 25"/>
          <p:cNvSpPr/>
          <p:nvPr/>
        </p:nvSpPr>
        <p:spPr>
          <a:xfrm>
            <a:off x="640080" y="6419088"/>
            <a:ext cx="10927080" cy="0"/>
          </a:xfrm>
          <a:prstGeom prst="line">
            <a:avLst/>
          </a:prstGeom>
          <a:noFill/>
          <a:ln w="12700">
            <a:solidFill>
              <a:srgbClr val="CBD5E1"/>
            </a:solidFill>
            <a:prstDash val="solid"/>
          </a:ln>
        </p:spPr>
      </p:sp>
      <p:sp>
        <p:nvSpPr>
          <p:cNvPr id="28" name="Text 26"/>
          <p:cNvSpPr/>
          <p:nvPr/>
        </p:nvSpPr>
        <p:spPr>
          <a:xfrm>
            <a:off x="658368" y="6473952"/>
            <a:ext cx="4480560" cy="164592"/>
          </a:xfrm>
          <a:prstGeom prst="rect">
            <a:avLst/>
          </a:prstGeom>
          <a:noFill/>
          <a:ln/>
        </p:spPr>
        <p:txBody>
          <a:bodyPr wrap="square" lIns="0" tIns="0" rIns="0" bIns="0" rtlCol="0" anchor="ctr"/>
          <a:lstStyle/>
          <a:p>
            <a:pPr indent="0" marL="0">
              <a:buNone/>
            </a:pPr>
            <a:r>
              <a:rPr lang="en-US" sz="800" dirty="0">
                <a:solidFill>
                  <a:srgbClr val="64748B"/>
                </a:solidFill>
                <a:latin typeface="Lato" pitchFamily="34" charset="0"/>
                <a:ea typeface="Lato" pitchFamily="34" charset="-122"/>
                <a:cs typeface="Lato" pitchFamily="34" charset="-120"/>
              </a:rPr>
              <a:t>Slide 4 · ClinicalTrials query design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5EF"/>
          </a:solidFill>
          <a:ln w="12700">
            <a:solidFill>
              <a:srgbClr val="F7F5EF"/>
            </a:solidFill>
            <a:prstDash val="solid"/>
          </a:ln>
        </p:spPr>
      </p:sp>
      <p:sp>
        <p:nvSpPr>
          <p:cNvPr id="3" name="Shape 1"/>
          <p:cNvSpPr/>
          <p:nvPr/>
        </p:nvSpPr>
        <p:spPr>
          <a:xfrm>
            <a:off x="566928" y="384048"/>
            <a:ext cx="950976" cy="73152"/>
          </a:xfrm>
          <a:prstGeom prst="roundRect">
            <a:avLst>
              <a:gd name="adj" fmla="val 50000"/>
            </a:avLst>
          </a:prstGeom>
          <a:solidFill>
            <a:srgbClr val="0F766E"/>
          </a:solidFill>
          <a:ln w="12700">
            <a:solidFill>
              <a:srgbClr val="0F766E">
                <a:alpha val="0"/>
              </a:srgbClr>
            </a:solidFill>
            <a:prstDash val="solid"/>
          </a:ln>
        </p:spPr>
      </p:sp>
      <p:sp>
        <p:nvSpPr>
          <p:cNvPr id="4" name="Text 2"/>
          <p:cNvSpPr/>
          <p:nvPr/>
        </p:nvSpPr>
        <p:spPr>
          <a:xfrm>
            <a:off x="640080" y="512064"/>
            <a:ext cx="2377440" cy="201168"/>
          </a:xfrm>
          <a:prstGeom prst="rect">
            <a:avLst/>
          </a:prstGeom>
          <a:noFill/>
          <a:ln/>
        </p:spPr>
        <p:txBody>
          <a:bodyPr wrap="square" lIns="0" tIns="0" rIns="0" bIns="0" rtlCol="0" anchor="ctr"/>
          <a:lstStyle/>
          <a:p>
            <a:pPr indent="0" marL="0">
              <a:buNone/>
            </a:pPr>
            <a:r>
              <a:rPr lang="en-US" sz="880" b="1" dirty="0">
                <a:solidFill>
                  <a:srgbClr val="0F766E"/>
                </a:solidFill>
                <a:latin typeface="Lato" pitchFamily="34" charset="0"/>
                <a:ea typeface="Lato" pitchFamily="34" charset="-122"/>
                <a:cs typeface="Lato" pitchFamily="34" charset="-120"/>
              </a:rPr>
              <a:t>PUBMED</a:t>
            </a:r>
            <a:endParaRPr lang="en-US" sz="880" dirty="0"/>
          </a:p>
        </p:txBody>
      </p:sp>
      <p:sp>
        <p:nvSpPr>
          <p:cNvPr id="5" name="Text 3"/>
          <p:cNvSpPr/>
          <p:nvPr/>
        </p:nvSpPr>
        <p:spPr>
          <a:xfrm>
            <a:off x="640080" y="768096"/>
            <a:ext cx="7498080" cy="694944"/>
          </a:xfrm>
          <a:prstGeom prst="rect">
            <a:avLst/>
          </a:prstGeom>
          <a:noFill/>
          <a:ln/>
        </p:spPr>
        <p:txBody>
          <a:bodyPr wrap="square" lIns="0" tIns="0" rIns="0" bIns="0" rtlCol="0" anchor="ctr"/>
          <a:lstStyle/>
          <a:p>
            <a:pPr indent="0" marL="0">
              <a:buNone/>
            </a:pPr>
            <a:r>
              <a:rPr lang="en-US" sz="2616" b="1" dirty="0">
                <a:solidFill>
                  <a:srgbClr val="111827"/>
                </a:solidFill>
              </a:rPr>
              <a:t>How I Structure Queries Against PubMed</a:t>
            </a:r>
            <a:endParaRPr lang="en-US" sz="2616" dirty="0"/>
          </a:p>
        </p:txBody>
      </p:sp>
      <p:sp>
        <p:nvSpPr>
          <p:cNvPr id="6" name="Text 4"/>
          <p:cNvSpPr/>
          <p:nvPr/>
        </p:nvSpPr>
        <p:spPr>
          <a:xfrm>
            <a:off x="676656" y="1481328"/>
            <a:ext cx="7040880" cy="310896"/>
          </a:xfrm>
          <a:prstGeom prst="rect">
            <a:avLst/>
          </a:prstGeom>
          <a:noFill/>
          <a:ln/>
        </p:spPr>
        <p:txBody>
          <a:bodyPr wrap="square" lIns="0" tIns="0" rIns="0" bIns="0" rtlCol="0" anchor="ctr"/>
          <a:lstStyle/>
          <a:p>
            <a:pPr indent="0" marL="0">
              <a:buNone/>
            </a:pPr>
            <a:r>
              <a:rPr lang="en-US" sz="1120" dirty="0">
                <a:solidFill>
                  <a:srgbClr val="334155"/>
                </a:solidFill>
              </a:rPr>
              <a:t>PubMed is a different retrieval problem, so it gets a different query model and a different normalization path.</a:t>
            </a:r>
            <a:endParaRPr lang="en-US" sz="1120" dirty="0"/>
          </a:p>
        </p:txBody>
      </p:sp>
      <p:sp>
        <p:nvSpPr>
          <p:cNvPr id="7" name="Text 5"/>
          <p:cNvSpPr/>
          <p:nvPr/>
        </p:nvSpPr>
        <p:spPr>
          <a:xfrm>
            <a:off x="11247120" y="457200"/>
            <a:ext cx="411480" cy="201168"/>
          </a:xfrm>
          <a:prstGeom prst="rect">
            <a:avLst/>
          </a:prstGeom>
          <a:noFill/>
          <a:ln/>
        </p:spPr>
        <p:txBody>
          <a:bodyPr wrap="square" lIns="0" tIns="0" rIns="0" bIns="0" rtlCol="0" anchor="ctr"/>
          <a:lstStyle/>
          <a:p>
            <a:pPr algn="r" indent="0" marL="0">
              <a:buNone/>
            </a:pPr>
            <a:r>
              <a:rPr lang="en-US" sz="900" dirty="0">
                <a:solidFill>
                  <a:srgbClr val="64748B"/>
                </a:solidFill>
                <a:latin typeface="Lato" pitchFamily="34" charset="0"/>
                <a:ea typeface="Lato" pitchFamily="34" charset="-122"/>
                <a:cs typeface="Lato" pitchFamily="34" charset="-120"/>
              </a:rPr>
              <a:t>05</a:t>
            </a:r>
            <a:endParaRPr lang="en-US" sz="900" dirty="0"/>
          </a:p>
        </p:txBody>
      </p:sp>
      <p:sp>
        <p:nvSpPr>
          <p:cNvPr id="8" name="Shape 6"/>
          <p:cNvSpPr/>
          <p:nvPr/>
        </p:nvSpPr>
        <p:spPr>
          <a:xfrm>
            <a:off x="768096" y="1883664"/>
            <a:ext cx="3419856" cy="3602736"/>
          </a:xfrm>
          <a:prstGeom prst="roundRect">
            <a:avLst>
              <a:gd name="adj" fmla="val 4278"/>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9" name="Shape 7"/>
          <p:cNvSpPr/>
          <p:nvPr/>
        </p:nvSpPr>
        <p:spPr>
          <a:xfrm>
            <a:off x="804672" y="1956816"/>
            <a:ext cx="73152" cy="3456432"/>
          </a:xfrm>
          <a:prstGeom prst="roundRect">
            <a:avLst>
              <a:gd name="adj" fmla="val 50000"/>
            </a:avLst>
          </a:prstGeom>
          <a:solidFill>
            <a:srgbClr val="0F766E"/>
          </a:solidFill>
          <a:ln w="12700">
            <a:solidFill>
              <a:srgbClr val="0F766E">
                <a:alpha val="0"/>
              </a:srgbClr>
            </a:solidFill>
            <a:prstDash val="solid"/>
          </a:ln>
        </p:spPr>
      </p:sp>
      <p:sp>
        <p:nvSpPr>
          <p:cNvPr id="10" name="Text 8"/>
          <p:cNvSpPr/>
          <p:nvPr/>
        </p:nvSpPr>
        <p:spPr>
          <a:xfrm>
            <a:off x="950976" y="2029968"/>
            <a:ext cx="3145536" cy="274320"/>
          </a:xfrm>
          <a:prstGeom prst="rect">
            <a:avLst/>
          </a:prstGeom>
          <a:noFill/>
          <a:ln/>
        </p:spPr>
        <p:txBody>
          <a:bodyPr wrap="square" lIns="0" tIns="0" rIns="0" bIns="0" rtlCol="0" anchor="ctr"/>
          <a:lstStyle/>
          <a:p>
            <a:pPr indent="0" marL="0">
              <a:buNone/>
            </a:pPr>
            <a:r>
              <a:rPr lang="en-US" sz="1300" b="1" dirty="0">
                <a:solidFill>
                  <a:srgbClr val="111827"/>
                </a:solidFill>
              </a:rPr>
              <a:t>Three-step path</a:t>
            </a:r>
            <a:endParaRPr lang="en-US" sz="1300" dirty="0"/>
          </a:p>
        </p:txBody>
      </p:sp>
      <p:sp>
        <p:nvSpPr>
          <p:cNvPr id="11" name="Text 9"/>
          <p:cNvSpPr/>
          <p:nvPr/>
        </p:nvSpPr>
        <p:spPr>
          <a:xfrm>
            <a:off x="950976" y="2359152"/>
            <a:ext cx="3145536" cy="2962656"/>
          </a:xfrm>
          <a:prstGeom prst="rect">
            <a:avLst/>
          </a:prstGeom>
          <a:noFill/>
          <a:ln/>
        </p:spPr>
        <p:txBody>
          <a:bodyPr wrap="square" lIns="0" tIns="0" rIns="0" bIns="0" rtlCol="0" anchor="t"/>
          <a:lstStyle/>
          <a:p>
            <a:pPr indent="0" marL="0">
              <a:buNone/>
            </a:pPr>
            <a:r>
              <a:rPr lang="en-US" sz="1197" dirty="0">
                <a:solidFill>
                  <a:srgbClr val="334155"/>
                </a:solidFill>
              </a:rPr>
              <a:t>1. esearch</a:t>
            </a:r>
            <a:endParaRPr lang="en-US" sz="1197" dirty="0"/>
          </a:p>
          <a:p>
            <a:pPr indent="0" marL="0">
              <a:buNone/>
            </a:pPr>
            <a:r>
              <a:rPr lang="en-US" sz="1197" dirty="0">
                <a:solidFill>
                  <a:srgbClr val="334155"/>
                </a:solidFill>
              </a:rPr>
              <a:t>Find candidate PMIDs</a:t>
            </a:r>
            <a:endParaRPr lang="en-US" sz="1197" dirty="0"/>
          </a:p>
          <a:p>
            <a:pPr indent="0" marL="0">
              <a:buNone/>
            </a:pPr>
            <a:endParaRPr lang="en-US" sz="1197" dirty="0"/>
          </a:p>
          <a:p>
            <a:pPr indent="0" marL="0">
              <a:buNone/>
            </a:pPr>
            <a:r>
              <a:rPr lang="en-US" sz="1197" dirty="0">
                <a:solidFill>
                  <a:srgbClr val="334155"/>
                </a:solidFill>
              </a:rPr>
              <a:t>2. esummary</a:t>
            </a:r>
            <a:endParaRPr lang="en-US" sz="1197" dirty="0"/>
          </a:p>
          <a:p>
            <a:pPr indent="0" marL="0">
              <a:buNone/>
            </a:pPr>
            <a:r>
              <a:rPr lang="en-US" sz="1197" dirty="0">
                <a:solidFill>
                  <a:srgbClr val="334155"/>
                </a:solidFill>
              </a:rPr>
              <a:t>Pull article metadata</a:t>
            </a:r>
            <a:endParaRPr lang="en-US" sz="1197" dirty="0"/>
          </a:p>
          <a:p>
            <a:pPr indent="0" marL="0">
              <a:buNone/>
            </a:pPr>
            <a:endParaRPr lang="en-US" sz="1197" dirty="0"/>
          </a:p>
          <a:p>
            <a:pPr indent="0" marL="0">
              <a:buNone/>
            </a:pPr>
            <a:r>
              <a:rPr lang="en-US" sz="1197" dirty="0">
                <a:solidFill>
                  <a:srgbClr val="334155"/>
                </a:solidFill>
              </a:rPr>
              <a:t>3. efetch</a:t>
            </a:r>
            <a:endParaRPr lang="en-US" sz="1197" dirty="0"/>
          </a:p>
          <a:p>
            <a:pPr indent="0" marL="0">
              <a:buNone/>
            </a:pPr>
            <a:r>
              <a:rPr lang="en-US" sz="1197" dirty="0">
                <a:solidFill>
                  <a:srgbClr val="334155"/>
                </a:solidFill>
              </a:rPr>
              <a:t>Get abstracts and turn them into sentence-level evidence chunks</a:t>
            </a:r>
            <a:endParaRPr lang="en-US" sz="1197" dirty="0"/>
          </a:p>
        </p:txBody>
      </p:sp>
      <p:sp>
        <p:nvSpPr>
          <p:cNvPr id="12" name="Shape 10"/>
          <p:cNvSpPr/>
          <p:nvPr/>
        </p:nvSpPr>
        <p:spPr>
          <a:xfrm>
            <a:off x="4370832" y="1883664"/>
            <a:ext cx="3291840" cy="3602736"/>
          </a:xfrm>
          <a:prstGeom prst="roundRect">
            <a:avLst>
              <a:gd name="adj" fmla="val 4444"/>
            </a:avLst>
          </a:prstGeom>
          <a:solidFill>
            <a:srgbClr val="E6F0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3" name="Shape 11"/>
          <p:cNvSpPr/>
          <p:nvPr/>
        </p:nvSpPr>
        <p:spPr>
          <a:xfrm>
            <a:off x="4407408" y="1956816"/>
            <a:ext cx="73152" cy="3456432"/>
          </a:xfrm>
          <a:prstGeom prst="roundRect">
            <a:avLst>
              <a:gd name="adj" fmla="val 50000"/>
            </a:avLst>
          </a:prstGeom>
          <a:solidFill>
            <a:srgbClr val="2563EB"/>
          </a:solidFill>
          <a:ln w="12700">
            <a:solidFill>
              <a:srgbClr val="2563EB">
                <a:alpha val="0"/>
              </a:srgbClr>
            </a:solidFill>
            <a:prstDash val="solid"/>
          </a:ln>
        </p:spPr>
      </p:sp>
      <p:sp>
        <p:nvSpPr>
          <p:cNvPr id="14" name="Text 12"/>
          <p:cNvSpPr/>
          <p:nvPr/>
        </p:nvSpPr>
        <p:spPr>
          <a:xfrm>
            <a:off x="4553712" y="2029968"/>
            <a:ext cx="3017520" cy="274320"/>
          </a:xfrm>
          <a:prstGeom prst="rect">
            <a:avLst/>
          </a:prstGeom>
          <a:noFill/>
          <a:ln/>
        </p:spPr>
        <p:txBody>
          <a:bodyPr wrap="square" lIns="0" tIns="0" rIns="0" bIns="0" rtlCol="0" anchor="ctr"/>
          <a:lstStyle/>
          <a:p>
            <a:pPr indent="0" marL="0">
              <a:buNone/>
            </a:pPr>
            <a:r>
              <a:rPr lang="en-US" sz="1300" b="1" dirty="0">
                <a:solidFill>
                  <a:srgbClr val="111827"/>
                </a:solidFill>
              </a:rPr>
              <a:t>Query inputs</a:t>
            </a:r>
            <a:endParaRPr lang="en-US" sz="1300" dirty="0"/>
          </a:p>
        </p:txBody>
      </p:sp>
      <p:sp>
        <p:nvSpPr>
          <p:cNvPr id="15" name="Text 13"/>
          <p:cNvSpPr/>
          <p:nvPr/>
        </p:nvSpPr>
        <p:spPr>
          <a:xfrm>
            <a:off x="4553712" y="2359152"/>
            <a:ext cx="3017520" cy="2962656"/>
          </a:xfrm>
          <a:prstGeom prst="rect">
            <a:avLst/>
          </a:prstGeom>
          <a:noFill/>
          <a:ln/>
        </p:spPr>
        <p:txBody>
          <a:bodyPr wrap="square" lIns="0" tIns="0" rIns="0" bIns="0" rtlCol="0" anchor="t"/>
          <a:lstStyle/>
          <a:p>
            <a:pPr indent="0" marL="0">
              <a:buNone/>
            </a:pPr>
            <a:r>
              <a:rPr lang="en-US" sz="1197" dirty="0">
                <a:solidFill>
                  <a:srgbClr val="334155"/>
                </a:solidFill>
              </a:rPr>
              <a:t>condition</a:t>
            </a:r>
            <a:endParaRPr lang="en-US" sz="1197" dirty="0"/>
          </a:p>
          <a:p>
            <a:pPr indent="0" marL="0">
              <a:buNone/>
            </a:pPr>
            <a:r>
              <a:rPr lang="en-US" sz="1197" dirty="0">
                <a:solidFill>
                  <a:srgbClr val="334155"/>
                </a:solidFill>
              </a:rPr>
              <a:t>intervention</a:t>
            </a:r>
            <a:endParaRPr lang="en-US" sz="1197" dirty="0"/>
          </a:p>
          <a:p>
            <a:pPr indent="0" marL="0">
              <a:buNone/>
            </a:pPr>
            <a:r>
              <a:rPr lang="en-US" sz="1197" dirty="0">
                <a:solidFill>
                  <a:srgbClr val="334155"/>
                </a:solidFill>
              </a:rPr>
              <a:t>population</a:t>
            </a:r>
            <a:endParaRPr lang="en-US" sz="1197" dirty="0"/>
          </a:p>
          <a:p>
            <a:pPr indent="0" marL="0">
              <a:buNone/>
            </a:pPr>
            <a:r>
              <a:rPr lang="en-US" sz="1197" dirty="0">
                <a:solidFill>
                  <a:srgbClr val="334155"/>
                </a:solidFill>
              </a:rPr>
              <a:t>outcome intent</a:t>
            </a:r>
            <a:endParaRPr lang="en-US" sz="1197" dirty="0"/>
          </a:p>
          <a:p>
            <a:pPr indent="0" marL="0">
              <a:buNone/>
            </a:pPr>
            <a:endParaRPr lang="en-US" sz="1197" dirty="0"/>
          </a:p>
          <a:p>
            <a:pPr indent="0" marL="0">
              <a:buNone/>
            </a:pPr>
            <a:r>
              <a:rPr lang="en-US" sz="1197" dirty="0">
                <a:solidFill>
                  <a:srgbClr val="334155"/>
                </a:solidFill>
              </a:rPr>
              <a:t>These become conservative Title or Abstract clauses rather than one loose full-sentence search.</a:t>
            </a:r>
            <a:endParaRPr lang="en-US" sz="1197" dirty="0"/>
          </a:p>
        </p:txBody>
      </p:sp>
      <p:sp>
        <p:nvSpPr>
          <p:cNvPr id="16" name="Shape 14"/>
          <p:cNvSpPr/>
          <p:nvPr/>
        </p:nvSpPr>
        <p:spPr>
          <a:xfrm>
            <a:off x="7845552" y="1883664"/>
            <a:ext cx="3511296" cy="1627632"/>
          </a:xfrm>
          <a:prstGeom prst="roundRect">
            <a:avLst>
              <a:gd name="adj" fmla="val 8989"/>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7" name="Shape 15"/>
          <p:cNvSpPr/>
          <p:nvPr/>
        </p:nvSpPr>
        <p:spPr>
          <a:xfrm>
            <a:off x="7882128" y="1956816"/>
            <a:ext cx="73152" cy="1481328"/>
          </a:xfrm>
          <a:prstGeom prst="roundRect">
            <a:avLst>
              <a:gd name="adj" fmla="val 50000"/>
            </a:avLst>
          </a:prstGeom>
          <a:solidFill>
            <a:srgbClr val="0F766E"/>
          </a:solidFill>
          <a:ln w="12700">
            <a:solidFill>
              <a:srgbClr val="0F766E">
                <a:alpha val="0"/>
              </a:srgbClr>
            </a:solidFill>
            <a:prstDash val="solid"/>
          </a:ln>
        </p:spPr>
      </p:sp>
      <p:sp>
        <p:nvSpPr>
          <p:cNvPr id="18" name="Text 16"/>
          <p:cNvSpPr/>
          <p:nvPr/>
        </p:nvSpPr>
        <p:spPr>
          <a:xfrm>
            <a:off x="8028432" y="2029968"/>
            <a:ext cx="3236976" cy="274320"/>
          </a:xfrm>
          <a:prstGeom prst="rect">
            <a:avLst/>
          </a:prstGeom>
          <a:noFill/>
          <a:ln/>
        </p:spPr>
        <p:txBody>
          <a:bodyPr wrap="square" lIns="0" tIns="0" rIns="0" bIns="0" rtlCol="0" anchor="ctr"/>
          <a:lstStyle/>
          <a:p>
            <a:pPr indent="0" marL="0">
              <a:buNone/>
            </a:pPr>
            <a:r>
              <a:rPr lang="en-US" sz="1300" b="1" dirty="0">
                <a:solidFill>
                  <a:srgbClr val="111827"/>
                </a:solidFill>
              </a:rPr>
              <a:t>Normalized snippet types</a:t>
            </a:r>
            <a:endParaRPr lang="en-US" sz="1300" dirty="0"/>
          </a:p>
        </p:txBody>
      </p:sp>
      <p:sp>
        <p:nvSpPr>
          <p:cNvPr id="19" name="Text 17"/>
          <p:cNvSpPr/>
          <p:nvPr/>
        </p:nvSpPr>
        <p:spPr>
          <a:xfrm>
            <a:off x="8028432" y="2359152"/>
            <a:ext cx="3236976" cy="987552"/>
          </a:xfrm>
          <a:prstGeom prst="rect">
            <a:avLst/>
          </a:prstGeom>
          <a:noFill/>
          <a:ln/>
        </p:spPr>
        <p:txBody>
          <a:bodyPr wrap="square" lIns="0" tIns="0" rIns="0" bIns="0" rtlCol="0" anchor="t"/>
          <a:lstStyle/>
          <a:p>
            <a:pPr indent="0" marL="0">
              <a:buNone/>
            </a:pPr>
            <a:r>
              <a:rPr lang="en-US" sz="1197" dirty="0">
                <a:solidFill>
                  <a:srgbClr val="334155"/>
                </a:solidFill>
              </a:rPr>
              <a:t>title</a:t>
            </a:r>
            <a:endParaRPr lang="en-US" sz="1197" dirty="0"/>
          </a:p>
          <a:p>
            <a:pPr indent="0" marL="0">
              <a:buNone/>
            </a:pPr>
            <a:r>
              <a:rPr lang="en-US" sz="1197" dirty="0">
                <a:solidFill>
                  <a:srgbClr val="334155"/>
                </a:solidFill>
              </a:rPr>
              <a:t>metadata</a:t>
            </a:r>
            <a:endParaRPr lang="en-US" sz="1197" dirty="0"/>
          </a:p>
          <a:p>
            <a:pPr indent="0" marL="0">
              <a:buNone/>
            </a:pPr>
            <a:r>
              <a:rPr lang="en-US" sz="1197" dirty="0">
                <a:solidFill>
                  <a:srgbClr val="334155"/>
                </a:solidFill>
              </a:rPr>
              <a:t>abstract_1 ... abstract_n</a:t>
            </a:r>
            <a:endParaRPr lang="en-US" sz="1197" dirty="0"/>
          </a:p>
        </p:txBody>
      </p:sp>
      <p:sp>
        <p:nvSpPr>
          <p:cNvPr id="20" name="Shape 18"/>
          <p:cNvSpPr/>
          <p:nvPr/>
        </p:nvSpPr>
        <p:spPr>
          <a:xfrm>
            <a:off x="7845552" y="3675888"/>
            <a:ext cx="3511296" cy="1810512"/>
          </a:xfrm>
          <a:prstGeom prst="roundRect">
            <a:avLst>
              <a:gd name="adj" fmla="val 8081"/>
            </a:avLst>
          </a:prstGeom>
          <a:solidFill>
            <a:srgbClr val="FEF3C7"/>
          </a:solidFill>
          <a:ln w="14605">
            <a:solidFill>
              <a:srgbClr val="FEF3C7"/>
            </a:solidFill>
            <a:prstDash val="solid"/>
          </a:ln>
          <a:effectLst>
            <a:outerShdw sx="100000" sy="100000" kx="0" ky="0" algn="bl" rotWithShape="0" blurRad="19050" dist="12700" dir="2700000">
              <a:srgbClr val="000000">
                <a:alpha val="7000"/>
              </a:srgbClr>
            </a:outerShdw>
          </a:effectLst>
        </p:spPr>
      </p:sp>
      <p:sp>
        <p:nvSpPr>
          <p:cNvPr id="21" name="Shape 19"/>
          <p:cNvSpPr/>
          <p:nvPr/>
        </p:nvSpPr>
        <p:spPr>
          <a:xfrm>
            <a:off x="7882128" y="3749040"/>
            <a:ext cx="73152" cy="1664208"/>
          </a:xfrm>
          <a:prstGeom prst="roundRect">
            <a:avLst>
              <a:gd name="adj" fmla="val 50000"/>
            </a:avLst>
          </a:prstGeom>
          <a:solidFill>
            <a:srgbClr val="B45309"/>
          </a:solidFill>
          <a:ln w="12700">
            <a:solidFill>
              <a:srgbClr val="B45309">
                <a:alpha val="0"/>
              </a:srgbClr>
            </a:solidFill>
            <a:prstDash val="solid"/>
          </a:ln>
        </p:spPr>
      </p:sp>
      <p:sp>
        <p:nvSpPr>
          <p:cNvPr id="22" name="Text 20"/>
          <p:cNvSpPr/>
          <p:nvPr/>
        </p:nvSpPr>
        <p:spPr>
          <a:xfrm>
            <a:off x="8028432" y="3822192"/>
            <a:ext cx="3236976" cy="274320"/>
          </a:xfrm>
          <a:prstGeom prst="rect">
            <a:avLst/>
          </a:prstGeom>
          <a:noFill/>
          <a:ln/>
        </p:spPr>
        <p:txBody>
          <a:bodyPr wrap="square" lIns="0" tIns="0" rIns="0" bIns="0" rtlCol="0" anchor="ctr"/>
          <a:lstStyle/>
          <a:p>
            <a:pPr indent="0" marL="0">
              <a:buNone/>
            </a:pPr>
            <a:r>
              <a:rPr lang="en-US" sz="1300" b="1" dirty="0">
                <a:solidFill>
                  <a:srgbClr val="111827"/>
                </a:solidFill>
              </a:rPr>
              <a:t>Limitation I would state clearly</a:t>
            </a:r>
            <a:endParaRPr lang="en-US" sz="1300" dirty="0"/>
          </a:p>
        </p:txBody>
      </p:sp>
      <p:sp>
        <p:nvSpPr>
          <p:cNvPr id="23" name="Text 21"/>
          <p:cNvSpPr/>
          <p:nvPr/>
        </p:nvSpPr>
        <p:spPr>
          <a:xfrm>
            <a:off x="8028432" y="4151376"/>
            <a:ext cx="3236976" cy="1170432"/>
          </a:xfrm>
          <a:prstGeom prst="rect">
            <a:avLst/>
          </a:prstGeom>
          <a:noFill/>
          <a:ln/>
        </p:spPr>
        <p:txBody>
          <a:bodyPr wrap="square" lIns="0" tIns="0" rIns="0" bIns="0" rtlCol="0" anchor="t"/>
          <a:lstStyle/>
          <a:p>
            <a:pPr indent="0" marL="0">
              <a:buNone/>
            </a:pPr>
            <a:r>
              <a:rPr lang="en-US" sz="1197" dirty="0">
                <a:solidFill>
                  <a:srgbClr val="334155"/>
                </a:solidFill>
              </a:rPr>
              <a:t>This MVP is mostly abstract-grounded, not full-text-grounded. I would rather be precise about evidence depth than imply more than the system actually has.</a:t>
            </a:r>
            <a:endParaRPr lang="en-US" sz="1197" dirty="0"/>
          </a:p>
        </p:txBody>
      </p:sp>
      <p:sp>
        <p:nvSpPr>
          <p:cNvPr id="24" name="Shape 22"/>
          <p:cNvSpPr/>
          <p:nvPr/>
        </p:nvSpPr>
        <p:spPr>
          <a:xfrm>
            <a:off x="749808" y="5833872"/>
            <a:ext cx="10625328" cy="420624"/>
          </a:xfrm>
          <a:prstGeom prst="roundRect">
            <a:avLst>
              <a:gd name="adj" fmla="val 30435"/>
            </a:avLst>
          </a:prstGeom>
          <a:solidFill>
            <a:srgbClr val="FFFFFF"/>
          </a:solidFill>
          <a:ln w="12700">
            <a:solidFill>
              <a:srgbClr val="CBD5E1"/>
            </a:solidFill>
            <a:prstDash val="solid"/>
          </a:ln>
        </p:spPr>
      </p:sp>
      <p:sp>
        <p:nvSpPr>
          <p:cNvPr id="25" name="Text 23"/>
          <p:cNvSpPr/>
          <p:nvPr/>
        </p:nvSpPr>
        <p:spPr>
          <a:xfrm>
            <a:off x="932688" y="5943600"/>
            <a:ext cx="749808" cy="146304"/>
          </a:xfrm>
          <a:prstGeom prst="rect">
            <a:avLst/>
          </a:prstGeom>
          <a:noFill/>
          <a:ln/>
        </p:spPr>
        <p:txBody>
          <a:bodyPr wrap="square" lIns="0" tIns="0" rIns="0" bIns="0" rtlCol="0" anchor="ctr"/>
          <a:lstStyle/>
          <a:p>
            <a:pPr indent="0" marL="0">
              <a:buNone/>
            </a:pPr>
            <a:r>
              <a:rPr lang="en-US" sz="860" b="1" dirty="0">
                <a:solidFill>
                  <a:srgbClr val="115E59"/>
                </a:solidFill>
                <a:latin typeface="Lato" pitchFamily="34" charset="0"/>
                <a:ea typeface="Lato" pitchFamily="34" charset="-122"/>
                <a:cs typeface="Lato" pitchFamily="34" charset="-120"/>
              </a:rPr>
              <a:t>Show live:</a:t>
            </a:r>
            <a:endParaRPr lang="en-US" sz="860" dirty="0"/>
          </a:p>
        </p:txBody>
      </p:sp>
      <p:sp>
        <p:nvSpPr>
          <p:cNvPr id="26" name="Text 24"/>
          <p:cNvSpPr/>
          <p:nvPr/>
        </p:nvSpPr>
        <p:spPr>
          <a:xfrm>
            <a:off x="1938528" y="5943600"/>
            <a:ext cx="9034272" cy="146304"/>
          </a:xfrm>
          <a:prstGeom prst="rect">
            <a:avLst/>
          </a:prstGeom>
          <a:noFill/>
          <a:ln/>
        </p:spPr>
        <p:txBody>
          <a:bodyPr wrap="square" lIns="0" tIns="0" rIns="0" bIns="0" rtlCol="0" anchor="ctr"/>
          <a:lstStyle/>
          <a:p>
            <a:pPr indent="0" marL="0">
              <a:buNone/>
            </a:pPr>
            <a:r>
              <a:rPr lang="en-US" sz="820" dirty="0">
                <a:solidFill>
                  <a:srgbClr val="334155"/>
                </a:solidFill>
                <a:latin typeface="DejaVu Sans Mono" pitchFamily="34" charset="0"/>
                <a:ea typeface="DejaVu Sans Mono" pitchFamily="34" charset="-122"/>
                <a:cs typeface="DejaVu Sans Mono" pitchFamily="34" charset="-120"/>
              </a:rPr>
              <a:t>backend/app/services/pubmed.py</a:t>
            </a:r>
            <a:endParaRPr lang="en-US" sz="820" dirty="0"/>
          </a:p>
        </p:txBody>
      </p:sp>
      <p:sp>
        <p:nvSpPr>
          <p:cNvPr id="27" name="Shape 25"/>
          <p:cNvSpPr/>
          <p:nvPr/>
        </p:nvSpPr>
        <p:spPr>
          <a:xfrm>
            <a:off x="640080" y="6419088"/>
            <a:ext cx="10927080" cy="0"/>
          </a:xfrm>
          <a:prstGeom prst="line">
            <a:avLst/>
          </a:prstGeom>
          <a:noFill/>
          <a:ln w="12700">
            <a:solidFill>
              <a:srgbClr val="CBD5E1"/>
            </a:solidFill>
            <a:prstDash val="solid"/>
          </a:ln>
        </p:spPr>
      </p:sp>
      <p:sp>
        <p:nvSpPr>
          <p:cNvPr id="28" name="Text 26"/>
          <p:cNvSpPr/>
          <p:nvPr/>
        </p:nvSpPr>
        <p:spPr>
          <a:xfrm>
            <a:off x="658368" y="6473952"/>
            <a:ext cx="4480560" cy="164592"/>
          </a:xfrm>
          <a:prstGeom prst="rect">
            <a:avLst/>
          </a:prstGeom>
          <a:noFill/>
          <a:ln/>
        </p:spPr>
        <p:txBody>
          <a:bodyPr wrap="square" lIns="0" tIns="0" rIns="0" bIns="0" rtlCol="0" anchor="ctr"/>
          <a:lstStyle/>
          <a:p>
            <a:pPr indent="0" marL="0">
              <a:buNone/>
            </a:pPr>
            <a:r>
              <a:rPr lang="en-US" sz="800" dirty="0">
                <a:solidFill>
                  <a:srgbClr val="64748B"/>
                </a:solidFill>
                <a:latin typeface="Lato" pitchFamily="34" charset="0"/>
                <a:ea typeface="Lato" pitchFamily="34" charset="-122"/>
                <a:cs typeface="Lato" pitchFamily="34" charset="-120"/>
              </a:rPr>
              <a:t>Slide 5 · PubMed query design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5EF"/>
          </a:solidFill>
          <a:ln w="12700">
            <a:solidFill>
              <a:srgbClr val="F7F5EF"/>
            </a:solidFill>
            <a:prstDash val="solid"/>
          </a:ln>
        </p:spPr>
      </p:sp>
      <p:sp>
        <p:nvSpPr>
          <p:cNvPr id="3" name="Shape 1"/>
          <p:cNvSpPr/>
          <p:nvPr/>
        </p:nvSpPr>
        <p:spPr>
          <a:xfrm>
            <a:off x="566928" y="384048"/>
            <a:ext cx="950976" cy="73152"/>
          </a:xfrm>
          <a:prstGeom prst="roundRect">
            <a:avLst>
              <a:gd name="adj" fmla="val 50000"/>
            </a:avLst>
          </a:prstGeom>
          <a:solidFill>
            <a:srgbClr val="0F766E"/>
          </a:solidFill>
          <a:ln w="12700">
            <a:solidFill>
              <a:srgbClr val="0F766E">
                <a:alpha val="0"/>
              </a:srgbClr>
            </a:solidFill>
            <a:prstDash val="solid"/>
          </a:ln>
        </p:spPr>
      </p:sp>
      <p:sp>
        <p:nvSpPr>
          <p:cNvPr id="4" name="Text 2"/>
          <p:cNvSpPr/>
          <p:nvPr/>
        </p:nvSpPr>
        <p:spPr>
          <a:xfrm>
            <a:off x="640080" y="512064"/>
            <a:ext cx="2377440" cy="201168"/>
          </a:xfrm>
          <a:prstGeom prst="rect">
            <a:avLst/>
          </a:prstGeom>
          <a:noFill/>
          <a:ln/>
        </p:spPr>
        <p:txBody>
          <a:bodyPr wrap="square" lIns="0" tIns="0" rIns="0" bIns="0" rtlCol="0" anchor="ctr"/>
          <a:lstStyle/>
          <a:p>
            <a:pPr indent="0" marL="0">
              <a:buNone/>
            </a:pPr>
            <a:r>
              <a:rPr lang="en-US" sz="880" b="1" dirty="0">
                <a:solidFill>
                  <a:srgbClr val="0F766E"/>
                </a:solidFill>
                <a:latin typeface="Lato" pitchFamily="34" charset="0"/>
                <a:ea typeface="Lato" pitchFamily="34" charset="-122"/>
                <a:cs typeface="Lato" pitchFamily="34" charset="-120"/>
              </a:rPr>
              <a:t>GROUNDING</a:t>
            </a:r>
            <a:endParaRPr lang="en-US" sz="880" dirty="0"/>
          </a:p>
        </p:txBody>
      </p:sp>
      <p:sp>
        <p:nvSpPr>
          <p:cNvPr id="5" name="Text 3"/>
          <p:cNvSpPr/>
          <p:nvPr/>
        </p:nvSpPr>
        <p:spPr>
          <a:xfrm>
            <a:off x="640080" y="768096"/>
            <a:ext cx="7498080" cy="694944"/>
          </a:xfrm>
          <a:prstGeom prst="rect">
            <a:avLst/>
          </a:prstGeom>
          <a:noFill/>
          <a:ln/>
        </p:spPr>
        <p:txBody>
          <a:bodyPr wrap="square" lIns="0" tIns="0" rIns="0" bIns="0" rtlCol="0" anchor="ctr"/>
          <a:lstStyle/>
          <a:p>
            <a:pPr indent="0" marL="0">
              <a:buNone/>
            </a:pPr>
            <a:r>
              <a:rPr lang="en-US" sz="2616" b="1" dirty="0">
                <a:solidFill>
                  <a:srgbClr val="111827"/>
                </a:solidFill>
              </a:rPr>
              <a:t>How I Surface Accurate, Cited Answers</a:t>
            </a:r>
            <a:endParaRPr lang="en-US" sz="2616" dirty="0"/>
          </a:p>
        </p:txBody>
      </p:sp>
      <p:sp>
        <p:nvSpPr>
          <p:cNvPr id="6" name="Text 4"/>
          <p:cNvSpPr/>
          <p:nvPr/>
        </p:nvSpPr>
        <p:spPr>
          <a:xfrm>
            <a:off x="676656" y="1481328"/>
            <a:ext cx="7040880" cy="310896"/>
          </a:xfrm>
          <a:prstGeom prst="rect">
            <a:avLst/>
          </a:prstGeom>
          <a:noFill/>
          <a:ln/>
        </p:spPr>
        <p:txBody>
          <a:bodyPr wrap="square" lIns="0" tIns="0" rIns="0" bIns="0" rtlCol="0" anchor="ctr"/>
          <a:lstStyle/>
          <a:p>
            <a:pPr indent="0" marL="0">
              <a:buNone/>
            </a:pPr>
            <a:r>
              <a:rPr lang="en-US" sz="1120" dirty="0">
                <a:solidFill>
                  <a:srgbClr val="334155"/>
                </a:solidFill>
              </a:rPr>
              <a:t>Bound the evidence first, then constrain generation, then validate citations before returning the final answer.</a:t>
            </a:r>
            <a:endParaRPr lang="en-US" sz="1120" dirty="0"/>
          </a:p>
        </p:txBody>
      </p:sp>
      <p:sp>
        <p:nvSpPr>
          <p:cNvPr id="7" name="Text 5"/>
          <p:cNvSpPr/>
          <p:nvPr/>
        </p:nvSpPr>
        <p:spPr>
          <a:xfrm>
            <a:off x="11247120" y="457200"/>
            <a:ext cx="411480" cy="201168"/>
          </a:xfrm>
          <a:prstGeom prst="rect">
            <a:avLst/>
          </a:prstGeom>
          <a:noFill/>
          <a:ln/>
        </p:spPr>
        <p:txBody>
          <a:bodyPr wrap="square" lIns="0" tIns="0" rIns="0" bIns="0" rtlCol="0" anchor="ctr"/>
          <a:lstStyle/>
          <a:p>
            <a:pPr algn="r" indent="0" marL="0">
              <a:buNone/>
            </a:pPr>
            <a:r>
              <a:rPr lang="en-US" sz="900" dirty="0">
                <a:solidFill>
                  <a:srgbClr val="64748B"/>
                </a:solidFill>
                <a:latin typeface="Lato" pitchFamily="34" charset="0"/>
                <a:ea typeface="Lato" pitchFamily="34" charset="-122"/>
                <a:cs typeface="Lato" pitchFamily="34" charset="-120"/>
              </a:rPr>
              <a:t>06</a:t>
            </a:r>
            <a:endParaRPr lang="en-US" sz="9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973490" y="1865376"/>
            <a:ext cx="8251115" cy="2377440"/>
          </a:xfrm>
          <a:prstGeom prst="rect">
            <a:avLst/>
          </a:prstGeom>
        </p:spPr>
      </p:pic>
      <p:sp>
        <p:nvSpPr>
          <p:cNvPr id="9" name="Shape 6"/>
          <p:cNvSpPr/>
          <p:nvPr/>
        </p:nvSpPr>
        <p:spPr>
          <a:xfrm>
            <a:off x="841248" y="4553712"/>
            <a:ext cx="3200400" cy="1024128"/>
          </a:xfrm>
          <a:prstGeom prst="roundRect">
            <a:avLst>
              <a:gd name="adj" fmla="val 14286"/>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0" name="Shape 7"/>
          <p:cNvSpPr/>
          <p:nvPr/>
        </p:nvSpPr>
        <p:spPr>
          <a:xfrm>
            <a:off x="877824" y="4626864"/>
            <a:ext cx="73152" cy="877824"/>
          </a:xfrm>
          <a:prstGeom prst="roundRect">
            <a:avLst>
              <a:gd name="adj" fmla="val 50000"/>
            </a:avLst>
          </a:prstGeom>
          <a:solidFill>
            <a:srgbClr val="0F766E"/>
          </a:solidFill>
          <a:ln w="12700">
            <a:solidFill>
              <a:srgbClr val="0F766E">
                <a:alpha val="0"/>
              </a:srgbClr>
            </a:solidFill>
            <a:prstDash val="solid"/>
          </a:ln>
        </p:spPr>
      </p:sp>
      <p:sp>
        <p:nvSpPr>
          <p:cNvPr id="11" name="Text 8"/>
          <p:cNvSpPr/>
          <p:nvPr/>
        </p:nvSpPr>
        <p:spPr>
          <a:xfrm>
            <a:off x="1024128" y="4700016"/>
            <a:ext cx="2926080" cy="274320"/>
          </a:xfrm>
          <a:prstGeom prst="rect">
            <a:avLst/>
          </a:prstGeom>
          <a:noFill/>
          <a:ln/>
        </p:spPr>
        <p:txBody>
          <a:bodyPr wrap="square" lIns="0" tIns="0" rIns="0" bIns="0" rtlCol="0" anchor="ctr"/>
          <a:lstStyle/>
          <a:p>
            <a:pPr indent="0" marL="0">
              <a:buNone/>
            </a:pPr>
            <a:r>
              <a:rPr lang="en-US" sz="1300" b="1" dirty="0">
                <a:solidFill>
                  <a:srgbClr val="111827"/>
                </a:solidFill>
              </a:rPr>
              <a:t>Evidence first</a:t>
            </a:r>
            <a:endParaRPr lang="en-US" sz="1300" dirty="0"/>
          </a:p>
        </p:txBody>
      </p:sp>
      <p:sp>
        <p:nvSpPr>
          <p:cNvPr id="12" name="Text 9"/>
          <p:cNvSpPr/>
          <p:nvPr/>
        </p:nvSpPr>
        <p:spPr>
          <a:xfrm>
            <a:off x="1024128" y="5029200"/>
            <a:ext cx="2926080" cy="384048"/>
          </a:xfrm>
          <a:prstGeom prst="rect">
            <a:avLst/>
          </a:prstGeom>
          <a:noFill/>
          <a:ln/>
        </p:spPr>
        <p:txBody>
          <a:bodyPr wrap="square" lIns="0" tIns="0" rIns="0" bIns="0" rtlCol="0" anchor="t"/>
          <a:lstStyle/>
          <a:p>
            <a:pPr indent="0" marL="0">
              <a:buNone/>
            </a:pPr>
            <a:r>
              <a:rPr lang="en-US" sz="1000" dirty="0">
                <a:solidFill>
                  <a:srgbClr val="334155"/>
                </a:solidFill>
              </a:rPr>
              <a:t>The evidence window is selected before generation, not after generation.</a:t>
            </a:r>
            <a:endParaRPr lang="en-US" sz="1000" dirty="0"/>
          </a:p>
        </p:txBody>
      </p:sp>
      <p:sp>
        <p:nvSpPr>
          <p:cNvPr id="13" name="Shape 10"/>
          <p:cNvSpPr/>
          <p:nvPr/>
        </p:nvSpPr>
        <p:spPr>
          <a:xfrm>
            <a:off x="4224528" y="4553712"/>
            <a:ext cx="3200400" cy="1024128"/>
          </a:xfrm>
          <a:prstGeom prst="roundRect">
            <a:avLst>
              <a:gd name="adj" fmla="val 14286"/>
            </a:avLst>
          </a:prstGeom>
          <a:solidFill>
            <a:srgbClr val="DFF6F2"/>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4" name="Shape 11"/>
          <p:cNvSpPr/>
          <p:nvPr/>
        </p:nvSpPr>
        <p:spPr>
          <a:xfrm>
            <a:off x="4261104" y="4626864"/>
            <a:ext cx="73152" cy="877824"/>
          </a:xfrm>
          <a:prstGeom prst="roundRect">
            <a:avLst>
              <a:gd name="adj" fmla="val 50000"/>
            </a:avLst>
          </a:prstGeom>
          <a:solidFill>
            <a:srgbClr val="0F766E"/>
          </a:solidFill>
          <a:ln w="12700">
            <a:solidFill>
              <a:srgbClr val="0F766E">
                <a:alpha val="0"/>
              </a:srgbClr>
            </a:solidFill>
            <a:prstDash val="solid"/>
          </a:ln>
        </p:spPr>
      </p:sp>
      <p:sp>
        <p:nvSpPr>
          <p:cNvPr id="15" name="Text 12"/>
          <p:cNvSpPr/>
          <p:nvPr/>
        </p:nvSpPr>
        <p:spPr>
          <a:xfrm>
            <a:off x="4407408" y="4700016"/>
            <a:ext cx="2926080" cy="274320"/>
          </a:xfrm>
          <a:prstGeom prst="rect">
            <a:avLst/>
          </a:prstGeom>
          <a:noFill/>
          <a:ln/>
        </p:spPr>
        <p:txBody>
          <a:bodyPr wrap="square" lIns="0" tIns="0" rIns="0" bIns="0" rtlCol="0" anchor="ctr"/>
          <a:lstStyle/>
          <a:p>
            <a:pPr indent="0" marL="0">
              <a:buNone/>
            </a:pPr>
            <a:r>
              <a:rPr lang="en-US" sz="1300" b="1" dirty="0">
                <a:solidFill>
                  <a:srgbClr val="111827"/>
                </a:solidFill>
              </a:rPr>
              <a:t>Structured outputs</a:t>
            </a:r>
            <a:endParaRPr lang="en-US" sz="1300" dirty="0"/>
          </a:p>
        </p:txBody>
      </p:sp>
      <p:sp>
        <p:nvSpPr>
          <p:cNvPr id="16" name="Text 13"/>
          <p:cNvSpPr/>
          <p:nvPr/>
        </p:nvSpPr>
        <p:spPr>
          <a:xfrm>
            <a:off x="4407408" y="5029200"/>
            <a:ext cx="2926080" cy="384048"/>
          </a:xfrm>
          <a:prstGeom prst="rect">
            <a:avLst/>
          </a:prstGeom>
          <a:noFill/>
          <a:ln/>
        </p:spPr>
        <p:txBody>
          <a:bodyPr wrap="square" lIns="0" tIns="0" rIns="0" bIns="0" rtlCol="0" anchor="t"/>
          <a:lstStyle/>
          <a:p>
            <a:pPr indent="0" marL="0">
              <a:buNone/>
            </a:pPr>
            <a:r>
              <a:rPr lang="en-US" sz="1000" dirty="0">
                <a:solidFill>
                  <a:srgbClr val="334155"/>
                </a:solidFill>
              </a:rPr>
              <a:t>The model returns a schema with citation IDs instead of unconstrained prose.</a:t>
            </a:r>
            <a:endParaRPr lang="en-US" sz="1000" dirty="0"/>
          </a:p>
        </p:txBody>
      </p:sp>
      <p:sp>
        <p:nvSpPr>
          <p:cNvPr id="17" name="Shape 14"/>
          <p:cNvSpPr/>
          <p:nvPr/>
        </p:nvSpPr>
        <p:spPr>
          <a:xfrm>
            <a:off x="7607808" y="4553712"/>
            <a:ext cx="3657600" cy="1024128"/>
          </a:xfrm>
          <a:prstGeom prst="roundRect">
            <a:avLst>
              <a:gd name="adj" fmla="val 14286"/>
            </a:avLst>
          </a:prstGeom>
          <a:solidFill>
            <a:srgbClr val="FDE7E7"/>
          </a:solidFill>
          <a:ln w="14605">
            <a:solidFill>
              <a:srgbClr val="F3C5C5"/>
            </a:solidFill>
            <a:prstDash val="solid"/>
          </a:ln>
          <a:effectLst>
            <a:outerShdw sx="100000" sy="100000" kx="0" ky="0" algn="bl" rotWithShape="0" blurRad="19050" dist="12700" dir="2700000">
              <a:srgbClr val="000000">
                <a:alpha val="7000"/>
              </a:srgbClr>
            </a:outerShdw>
          </a:effectLst>
        </p:spPr>
      </p:sp>
      <p:sp>
        <p:nvSpPr>
          <p:cNvPr id="18" name="Shape 15"/>
          <p:cNvSpPr/>
          <p:nvPr/>
        </p:nvSpPr>
        <p:spPr>
          <a:xfrm>
            <a:off x="7644384" y="4626864"/>
            <a:ext cx="73152" cy="877824"/>
          </a:xfrm>
          <a:prstGeom prst="roundRect">
            <a:avLst>
              <a:gd name="adj" fmla="val 50000"/>
            </a:avLst>
          </a:prstGeom>
          <a:solidFill>
            <a:srgbClr val="B91C1C"/>
          </a:solidFill>
          <a:ln w="12700">
            <a:solidFill>
              <a:srgbClr val="B91C1C">
                <a:alpha val="0"/>
              </a:srgbClr>
            </a:solidFill>
            <a:prstDash val="solid"/>
          </a:ln>
        </p:spPr>
      </p:sp>
      <p:sp>
        <p:nvSpPr>
          <p:cNvPr id="19" name="Text 16"/>
          <p:cNvSpPr/>
          <p:nvPr/>
        </p:nvSpPr>
        <p:spPr>
          <a:xfrm>
            <a:off x="7790688" y="4700016"/>
            <a:ext cx="3383280" cy="274320"/>
          </a:xfrm>
          <a:prstGeom prst="rect">
            <a:avLst/>
          </a:prstGeom>
          <a:noFill/>
          <a:ln/>
        </p:spPr>
        <p:txBody>
          <a:bodyPr wrap="square" lIns="0" tIns="0" rIns="0" bIns="0" rtlCol="0" anchor="ctr"/>
          <a:lstStyle/>
          <a:p>
            <a:pPr indent="0" marL="0">
              <a:buNone/>
            </a:pPr>
            <a:r>
              <a:rPr lang="en-US" sz="1300" b="1" dirty="0">
                <a:solidFill>
                  <a:srgbClr val="111827"/>
                </a:solidFill>
              </a:rPr>
              <a:t>Safety net</a:t>
            </a:r>
            <a:endParaRPr lang="en-US" sz="1300" dirty="0"/>
          </a:p>
        </p:txBody>
      </p:sp>
      <p:sp>
        <p:nvSpPr>
          <p:cNvPr id="20" name="Text 17"/>
          <p:cNvSpPr/>
          <p:nvPr/>
        </p:nvSpPr>
        <p:spPr>
          <a:xfrm>
            <a:off x="7790688" y="5029200"/>
            <a:ext cx="3383280" cy="384048"/>
          </a:xfrm>
          <a:prstGeom prst="rect">
            <a:avLst/>
          </a:prstGeom>
          <a:noFill/>
          <a:ln/>
        </p:spPr>
        <p:txBody>
          <a:bodyPr wrap="square" lIns="0" tIns="0" rIns="0" bIns="0" rtlCol="0" anchor="t"/>
          <a:lstStyle/>
          <a:p>
            <a:pPr indent="0" marL="0">
              <a:buNone/>
            </a:pPr>
            <a:r>
              <a:rPr lang="en-US" sz="1000" dirty="0">
                <a:solidFill>
                  <a:srgbClr val="334155"/>
                </a:solidFill>
              </a:rPr>
              <a:t>If citation support is weak, retry once and then fall back to a conservative extractive answer.</a:t>
            </a:r>
            <a:endParaRPr lang="en-US" sz="1000" dirty="0"/>
          </a:p>
        </p:txBody>
      </p:sp>
      <p:sp>
        <p:nvSpPr>
          <p:cNvPr id="21" name="Shape 18"/>
          <p:cNvSpPr/>
          <p:nvPr/>
        </p:nvSpPr>
        <p:spPr>
          <a:xfrm>
            <a:off x="749808" y="5833872"/>
            <a:ext cx="10625328" cy="420624"/>
          </a:xfrm>
          <a:prstGeom prst="roundRect">
            <a:avLst>
              <a:gd name="adj" fmla="val 30435"/>
            </a:avLst>
          </a:prstGeom>
          <a:solidFill>
            <a:srgbClr val="FFFFFF"/>
          </a:solidFill>
          <a:ln w="12700">
            <a:solidFill>
              <a:srgbClr val="CBD5E1"/>
            </a:solidFill>
            <a:prstDash val="solid"/>
          </a:ln>
        </p:spPr>
      </p:sp>
      <p:sp>
        <p:nvSpPr>
          <p:cNvPr id="22" name="Text 19"/>
          <p:cNvSpPr/>
          <p:nvPr/>
        </p:nvSpPr>
        <p:spPr>
          <a:xfrm>
            <a:off x="932688" y="5943600"/>
            <a:ext cx="749808" cy="146304"/>
          </a:xfrm>
          <a:prstGeom prst="rect">
            <a:avLst/>
          </a:prstGeom>
          <a:noFill/>
          <a:ln/>
        </p:spPr>
        <p:txBody>
          <a:bodyPr wrap="square" lIns="0" tIns="0" rIns="0" bIns="0" rtlCol="0" anchor="ctr"/>
          <a:lstStyle/>
          <a:p>
            <a:pPr indent="0" marL="0">
              <a:buNone/>
            </a:pPr>
            <a:r>
              <a:rPr lang="en-US" sz="860" b="1" dirty="0">
                <a:solidFill>
                  <a:srgbClr val="115E59"/>
                </a:solidFill>
                <a:latin typeface="Lato" pitchFamily="34" charset="0"/>
                <a:ea typeface="Lato" pitchFamily="34" charset="-122"/>
                <a:cs typeface="Lato" pitchFamily="34" charset="-120"/>
              </a:rPr>
              <a:t>Show live:</a:t>
            </a:r>
            <a:endParaRPr lang="en-US" sz="860" dirty="0"/>
          </a:p>
        </p:txBody>
      </p:sp>
      <p:sp>
        <p:nvSpPr>
          <p:cNvPr id="23" name="Text 20"/>
          <p:cNvSpPr/>
          <p:nvPr/>
        </p:nvSpPr>
        <p:spPr>
          <a:xfrm>
            <a:off x="1938528" y="5943600"/>
            <a:ext cx="9034272" cy="146304"/>
          </a:xfrm>
          <a:prstGeom prst="rect">
            <a:avLst/>
          </a:prstGeom>
          <a:noFill/>
          <a:ln/>
        </p:spPr>
        <p:txBody>
          <a:bodyPr wrap="square" lIns="0" tIns="0" rIns="0" bIns="0" rtlCol="0" anchor="ctr"/>
          <a:lstStyle/>
          <a:p>
            <a:pPr indent="0" marL="0">
              <a:buNone/>
            </a:pPr>
            <a:r>
              <a:rPr lang="en-US" sz="820" dirty="0">
                <a:solidFill>
                  <a:srgbClr val="334155"/>
                </a:solidFill>
                <a:latin typeface="DejaVu Sans Mono" pitchFamily="34" charset="0"/>
                <a:ea typeface="DejaVu Sans Mono" pitchFamily="34" charset="-122"/>
                <a:cs typeface="DejaVu Sans Mono" pitchFamily="34" charset="-120"/>
              </a:rPr>
              <a:t>backend/app/services/rerank.py · llm_service.py · qa.py</a:t>
            </a:r>
            <a:endParaRPr lang="en-US" sz="820" dirty="0"/>
          </a:p>
        </p:txBody>
      </p:sp>
      <p:sp>
        <p:nvSpPr>
          <p:cNvPr id="24" name="Shape 21"/>
          <p:cNvSpPr/>
          <p:nvPr/>
        </p:nvSpPr>
        <p:spPr>
          <a:xfrm>
            <a:off x="640080" y="6419088"/>
            <a:ext cx="10927080" cy="0"/>
          </a:xfrm>
          <a:prstGeom prst="line">
            <a:avLst/>
          </a:prstGeom>
          <a:noFill/>
          <a:ln w="12700">
            <a:solidFill>
              <a:srgbClr val="CBD5E1"/>
            </a:solidFill>
            <a:prstDash val="solid"/>
          </a:ln>
        </p:spPr>
      </p:sp>
      <p:sp>
        <p:nvSpPr>
          <p:cNvPr id="25" name="Text 22"/>
          <p:cNvSpPr/>
          <p:nvPr/>
        </p:nvSpPr>
        <p:spPr>
          <a:xfrm>
            <a:off x="658368" y="6473952"/>
            <a:ext cx="4480560" cy="164592"/>
          </a:xfrm>
          <a:prstGeom prst="rect">
            <a:avLst/>
          </a:prstGeom>
          <a:noFill/>
          <a:ln/>
        </p:spPr>
        <p:txBody>
          <a:bodyPr wrap="square" lIns="0" tIns="0" rIns="0" bIns="0" rtlCol="0" anchor="ctr"/>
          <a:lstStyle/>
          <a:p>
            <a:pPr indent="0" marL="0">
              <a:buNone/>
            </a:pPr>
            <a:r>
              <a:rPr lang="en-US" sz="800" dirty="0">
                <a:solidFill>
                  <a:srgbClr val="64748B"/>
                </a:solidFill>
                <a:latin typeface="Lato" pitchFamily="34" charset="0"/>
                <a:ea typeface="Lato" pitchFamily="34" charset="-122"/>
                <a:cs typeface="Lato" pitchFamily="34" charset="-120"/>
              </a:rPr>
              <a:t>Slide 6 · accurate, cited answers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5EF"/>
          </a:solidFill>
          <a:ln w="12700">
            <a:solidFill>
              <a:srgbClr val="F7F5EF"/>
            </a:solidFill>
            <a:prstDash val="solid"/>
          </a:ln>
        </p:spPr>
      </p:sp>
      <p:sp>
        <p:nvSpPr>
          <p:cNvPr id="3" name="Shape 1"/>
          <p:cNvSpPr/>
          <p:nvPr/>
        </p:nvSpPr>
        <p:spPr>
          <a:xfrm>
            <a:off x="566928" y="384048"/>
            <a:ext cx="950976" cy="73152"/>
          </a:xfrm>
          <a:prstGeom prst="roundRect">
            <a:avLst>
              <a:gd name="adj" fmla="val 50000"/>
            </a:avLst>
          </a:prstGeom>
          <a:solidFill>
            <a:srgbClr val="0F766E"/>
          </a:solidFill>
          <a:ln w="12700">
            <a:solidFill>
              <a:srgbClr val="0F766E">
                <a:alpha val="0"/>
              </a:srgbClr>
            </a:solidFill>
            <a:prstDash val="solid"/>
          </a:ln>
        </p:spPr>
      </p:sp>
      <p:sp>
        <p:nvSpPr>
          <p:cNvPr id="4" name="Text 2"/>
          <p:cNvSpPr/>
          <p:nvPr/>
        </p:nvSpPr>
        <p:spPr>
          <a:xfrm>
            <a:off x="640080" y="512064"/>
            <a:ext cx="2377440" cy="201168"/>
          </a:xfrm>
          <a:prstGeom prst="rect">
            <a:avLst/>
          </a:prstGeom>
          <a:noFill/>
          <a:ln/>
        </p:spPr>
        <p:txBody>
          <a:bodyPr wrap="square" lIns="0" tIns="0" rIns="0" bIns="0" rtlCol="0" anchor="ctr"/>
          <a:lstStyle/>
          <a:p>
            <a:pPr indent="0" marL="0">
              <a:buNone/>
            </a:pPr>
            <a:r>
              <a:rPr lang="en-US" sz="880" b="1" dirty="0">
                <a:solidFill>
                  <a:srgbClr val="0F766E"/>
                </a:solidFill>
                <a:latin typeface="Lato" pitchFamily="34" charset="0"/>
                <a:ea typeface="Lato" pitchFamily="34" charset="-122"/>
                <a:cs typeface="Lato" pitchFamily="34" charset="-120"/>
              </a:rPr>
              <a:t>TRUST</a:t>
            </a:r>
            <a:endParaRPr lang="en-US" sz="880" dirty="0"/>
          </a:p>
        </p:txBody>
      </p:sp>
      <p:sp>
        <p:nvSpPr>
          <p:cNvPr id="5" name="Text 3"/>
          <p:cNvSpPr/>
          <p:nvPr/>
        </p:nvSpPr>
        <p:spPr>
          <a:xfrm>
            <a:off x="640080" y="768096"/>
            <a:ext cx="7498080" cy="694944"/>
          </a:xfrm>
          <a:prstGeom prst="rect">
            <a:avLst/>
          </a:prstGeom>
          <a:noFill/>
          <a:ln/>
        </p:spPr>
        <p:txBody>
          <a:bodyPr wrap="square" lIns="0" tIns="0" rIns="0" bIns="0" rtlCol="0" anchor="ctr"/>
          <a:lstStyle/>
          <a:p>
            <a:pPr indent="0" marL="0">
              <a:buNone/>
            </a:pPr>
            <a:r>
              <a:rPr lang="en-US" sz="2616" b="1" dirty="0">
                <a:solidFill>
                  <a:srgbClr val="111827"/>
                </a:solidFill>
              </a:rPr>
              <a:t>Why the UI Matters for Trust</a:t>
            </a:r>
            <a:endParaRPr lang="en-US" sz="2616" dirty="0"/>
          </a:p>
        </p:txBody>
      </p:sp>
      <p:sp>
        <p:nvSpPr>
          <p:cNvPr id="6" name="Text 4"/>
          <p:cNvSpPr/>
          <p:nvPr/>
        </p:nvSpPr>
        <p:spPr>
          <a:xfrm>
            <a:off x="676656" y="1481328"/>
            <a:ext cx="7040880" cy="310896"/>
          </a:xfrm>
          <a:prstGeom prst="rect">
            <a:avLst/>
          </a:prstGeom>
          <a:noFill/>
          <a:ln/>
        </p:spPr>
        <p:txBody>
          <a:bodyPr wrap="square" lIns="0" tIns="0" rIns="0" bIns="0" rtlCol="0" anchor="ctr"/>
          <a:lstStyle/>
          <a:p>
            <a:pPr indent="0" marL="0">
              <a:buNone/>
            </a:pPr>
            <a:r>
              <a:rPr lang="en-US" sz="1120" dirty="0">
                <a:solidFill>
                  <a:srgbClr val="334155"/>
                </a:solidFill>
              </a:rPr>
              <a:t>Trust is not only about backend accuracy. It is also about how you expose evidence, limitations, and system behavior.</a:t>
            </a:r>
            <a:endParaRPr lang="en-US" sz="1120" dirty="0"/>
          </a:p>
        </p:txBody>
      </p:sp>
      <p:sp>
        <p:nvSpPr>
          <p:cNvPr id="7" name="Text 5"/>
          <p:cNvSpPr/>
          <p:nvPr/>
        </p:nvSpPr>
        <p:spPr>
          <a:xfrm>
            <a:off x="11247120" y="457200"/>
            <a:ext cx="411480" cy="201168"/>
          </a:xfrm>
          <a:prstGeom prst="rect">
            <a:avLst/>
          </a:prstGeom>
          <a:noFill/>
          <a:ln/>
        </p:spPr>
        <p:txBody>
          <a:bodyPr wrap="square" lIns="0" tIns="0" rIns="0" bIns="0" rtlCol="0" anchor="ctr"/>
          <a:lstStyle/>
          <a:p>
            <a:pPr algn="r" indent="0" marL="0">
              <a:buNone/>
            </a:pPr>
            <a:r>
              <a:rPr lang="en-US" sz="900" dirty="0">
                <a:solidFill>
                  <a:srgbClr val="64748B"/>
                </a:solidFill>
                <a:latin typeface="Lato" pitchFamily="34" charset="0"/>
                <a:ea typeface="Lato" pitchFamily="34" charset="-122"/>
                <a:cs typeface="Lato" pitchFamily="34" charset="-120"/>
              </a:rPr>
              <a:t>07</a:t>
            </a:r>
            <a:endParaRPr lang="en-US" sz="9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274679" y="1847088"/>
            <a:ext cx="7667026" cy="2596896"/>
          </a:xfrm>
          <a:prstGeom prst="rect">
            <a:avLst/>
          </a:prstGeom>
        </p:spPr>
      </p:pic>
      <p:sp>
        <p:nvSpPr>
          <p:cNvPr id="9" name="Shape 6"/>
          <p:cNvSpPr/>
          <p:nvPr/>
        </p:nvSpPr>
        <p:spPr>
          <a:xfrm>
            <a:off x="841248" y="4590288"/>
            <a:ext cx="3401568" cy="1005840"/>
          </a:xfrm>
          <a:prstGeom prst="roundRect">
            <a:avLst>
              <a:gd name="adj" fmla="val 14545"/>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0" name="Shape 7"/>
          <p:cNvSpPr/>
          <p:nvPr/>
        </p:nvSpPr>
        <p:spPr>
          <a:xfrm>
            <a:off x="877824" y="4663440"/>
            <a:ext cx="73152" cy="859536"/>
          </a:xfrm>
          <a:prstGeom prst="roundRect">
            <a:avLst>
              <a:gd name="adj" fmla="val 50000"/>
            </a:avLst>
          </a:prstGeom>
          <a:solidFill>
            <a:srgbClr val="0F766E"/>
          </a:solidFill>
          <a:ln w="12700">
            <a:solidFill>
              <a:srgbClr val="0F766E">
                <a:alpha val="0"/>
              </a:srgbClr>
            </a:solidFill>
            <a:prstDash val="solid"/>
          </a:ln>
        </p:spPr>
      </p:sp>
      <p:sp>
        <p:nvSpPr>
          <p:cNvPr id="11" name="Text 8"/>
          <p:cNvSpPr/>
          <p:nvPr/>
        </p:nvSpPr>
        <p:spPr>
          <a:xfrm>
            <a:off x="1024128" y="4736592"/>
            <a:ext cx="3127248" cy="274320"/>
          </a:xfrm>
          <a:prstGeom prst="rect">
            <a:avLst/>
          </a:prstGeom>
          <a:noFill/>
          <a:ln/>
        </p:spPr>
        <p:txBody>
          <a:bodyPr wrap="square" lIns="0" tIns="0" rIns="0" bIns="0" rtlCol="0" anchor="ctr"/>
          <a:lstStyle/>
          <a:p>
            <a:pPr indent="0" marL="0">
              <a:buNone/>
            </a:pPr>
            <a:r>
              <a:rPr lang="en-US" sz="1300" b="1" dirty="0">
                <a:solidFill>
                  <a:srgbClr val="111827"/>
                </a:solidFill>
              </a:rPr>
              <a:t>Separate uncertainty</a:t>
            </a:r>
            <a:endParaRPr lang="en-US" sz="1300" dirty="0"/>
          </a:p>
        </p:txBody>
      </p:sp>
      <p:sp>
        <p:nvSpPr>
          <p:cNvPr id="12" name="Text 9"/>
          <p:cNvSpPr/>
          <p:nvPr/>
        </p:nvSpPr>
        <p:spPr>
          <a:xfrm>
            <a:off x="1024128" y="5065776"/>
            <a:ext cx="3127248" cy="365760"/>
          </a:xfrm>
          <a:prstGeom prst="rect">
            <a:avLst/>
          </a:prstGeom>
          <a:noFill/>
          <a:ln/>
        </p:spPr>
        <p:txBody>
          <a:bodyPr wrap="square" lIns="0" tIns="0" rIns="0" bIns="0" rtlCol="0" anchor="t"/>
          <a:lstStyle/>
          <a:p>
            <a:pPr indent="0" marL="0">
              <a:buNone/>
            </a:pPr>
            <a:r>
              <a:rPr lang="en-US" sz="1000" dirty="0">
                <a:solidFill>
                  <a:srgbClr val="334155"/>
                </a:solidFill>
              </a:rPr>
              <a:t>Limitations deserve their own block instead of being buried in answer prose.</a:t>
            </a:r>
            <a:endParaRPr lang="en-US" sz="1000" dirty="0"/>
          </a:p>
        </p:txBody>
      </p:sp>
      <p:sp>
        <p:nvSpPr>
          <p:cNvPr id="13" name="Shape 10"/>
          <p:cNvSpPr/>
          <p:nvPr/>
        </p:nvSpPr>
        <p:spPr>
          <a:xfrm>
            <a:off x="4425696" y="4590288"/>
            <a:ext cx="3401568" cy="1005840"/>
          </a:xfrm>
          <a:prstGeom prst="roundRect">
            <a:avLst>
              <a:gd name="adj" fmla="val 14545"/>
            </a:avLst>
          </a:prstGeom>
          <a:solidFill>
            <a:srgbClr val="DFF6F2"/>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4" name="Shape 11"/>
          <p:cNvSpPr/>
          <p:nvPr/>
        </p:nvSpPr>
        <p:spPr>
          <a:xfrm>
            <a:off x="4462272" y="4663440"/>
            <a:ext cx="73152" cy="859536"/>
          </a:xfrm>
          <a:prstGeom prst="roundRect">
            <a:avLst>
              <a:gd name="adj" fmla="val 50000"/>
            </a:avLst>
          </a:prstGeom>
          <a:solidFill>
            <a:srgbClr val="0F766E"/>
          </a:solidFill>
          <a:ln w="12700">
            <a:solidFill>
              <a:srgbClr val="0F766E">
                <a:alpha val="0"/>
              </a:srgbClr>
            </a:solidFill>
            <a:prstDash val="solid"/>
          </a:ln>
        </p:spPr>
      </p:sp>
      <p:sp>
        <p:nvSpPr>
          <p:cNvPr id="15" name="Text 12"/>
          <p:cNvSpPr/>
          <p:nvPr/>
        </p:nvSpPr>
        <p:spPr>
          <a:xfrm>
            <a:off x="4608576" y="4736592"/>
            <a:ext cx="3127248" cy="274320"/>
          </a:xfrm>
          <a:prstGeom prst="rect">
            <a:avLst/>
          </a:prstGeom>
          <a:noFill/>
          <a:ln/>
        </p:spPr>
        <p:txBody>
          <a:bodyPr wrap="square" lIns="0" tIns="0" rIns="0" bIns="0" rtlCol="0" anchor="ctr"/>
          <a:lstStyle/>
          <a:p>
            <a:pPr indent="0" marL="0">
              <a:buNone/>
            </a:pPr>
            <a:r>
              <a:rPr lang="en-US" sz="1300" b="1" dirty="0">
                <a:solidFill>
                  <a:srgbClr val="111827"/>
                </a:solidFill>
              </a:rPr>
              <a:t>Inspectable citations</a:t>
            </a:r>
            <a:endParaRPr lang="en-US" sz="1300" dirty="0"/>
          </a:p>
        </p:txBody>
      </p:sp>
      <p:sp>
        <p:nvSpPr>
          <p:cNvPr id="16" name="Text 13"/>
          <p:cNvSpPr/>
          <p:nvPr/>
        </p:nvSpPr>
        <p:spPr>
          <a:xfrm>
            <a:off x="4608576" y="5065776"/>
            <a:ext cx="3127248" cy="365760"/>
          </a:xfrm>
          <a:prstGeom prst="rect">
            <a:avLst/>
          </a:prstGeom>
          <a:noFill/>
          <a:ln/>
        </p:spPr>
        <p:txBody>
          <a:bodyPr wrap="square" lIns="0" tIns="0" rIns="0" bIns="0" rtlCol="0" anchor="t"/>
          <a:lstStyle/>
          <a:p>
            <a:pPr indent="0" marL="0">
              <a:buNone/>
            </a:pPr>
            <a:r>
              <a:rPr lang="en-US" sz="1000" dirty="0">
                <a:solidFill>
                  <a:srgbClr val="334155"/>
                </a:solidFill>
              </a:rPr>
              <a:t>Source drawer exposes metadata plus all available snippets behind a cited source.</a:t>
            </a:r>
            <a:endParaRPr lang="en-US" sz="1000" dirty="0"/>
          </a:p>
        </p:txBody>
      </p:sp>
      <p:sp>
        <p:nvSpPr>
          <p:cNvPr id="17" name="Shape 14"/>
          <p:cNvSpPr/>
          <p:nvPr/>
        </p:nvSpPr>
        <p:spPr>
          <a:xfrm>
            <a:off x="8010144" y="4590288"/>
            <a:ext cx="3346704" cy="1005840"/>
          </a:xfrm>
          <a:prstGeom prst="roundRect">
            <a:avLst>
              <a:gd name="adj" fmla="val 14545"/>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8" name="Shape 15"/>
          <p:cNvSpPr/>
          <p:nvPr/>
        </p:nvSpPr>
        <p:spPr>
          <a:xfrm>
            <a:off x="8046720" y="4663440"/>
            <a:ext cx="73152" cy="859536"/>
          </a:xfrm>
          <a:prstGeom prst="roundRect">
            <a:avLst>
              <a:gd name="adj" fmla="val 50000"/>
            </a:avLst>
          </a:prstGeom>
          <a:solidFill>
            <a:srgbClr val="0F766E"/>
          </a:solidFill>
          <a:ln w="12700">
            <a:solidFill>
              <a:srgbClr val="0F766E">
                <a:alpha val="0"/>
              </a:srgbClr>
            </a:solidFill>
            <a:prstDash val="solid"/>
          </a:ln>
        </p:spPr>
      </p:sp>
      <p:sp>
        <p:nvSpPr>
          <p:cNvPr id="19" name="Text 16"/>
          <p:cNvSpPr/>
          <p:nvPr/>
        </p:nvSpPr>
        <p:spPr>
          <a:xfrm>
            <a:off x="8193024" y="4736592"/>
            <a:ext cx="3072384" cy="274320"/>
          </a:xfrm>
          <a:prstGeom prst="rect">
            <a:avLst/>
          </a:prstGeom>
          <a:noFill/>
          <a:ln/>
        </p:spPr>
        <p:txBody>
          <a:bodyPr wrap="square" lIns="0" tIns="0" rIns="0" bIns="0" rtlCol="0" anchor="ctr"/>
          <a:lstStyle/>
          <a:p>
            <a:pPr indent="0" marL="0">
              <a:buNone/>
            </a:pPr>
            <a:r>
              <a:rPr lang="en-US" sz="1300" b="1" dirty="0">
                <a:solidFill>
                  <a:srgbClr val="111827"/>
                </a:solidFill>
              </a:rPr>
              <a:t>Not a black box</a:t>
            </a:r>
            <a:endParaRPr lang="en-US" sz="1300" dirty="0"/>
          </a:p>
        </p:txBody>
      </p:sp>
      <p:sp>
        <p:nvSpPr>
          <p:cNvPr id="20" name="Text 17"/>
          <p:cNvSpPr/>
          <p:nvPr/>
        </p:nvSpPr>
        <p:spPr>
          <a:xfrm>
            <a:off x="8193024" y="5065776"/>
            <a:ext cx="3072384" cy="365760"/>
          </a:xfrm>
          <a:prstGeom prst="rect">
            <a:avLst/>
          </a:prstGeom>
          <a:noFill/>
          <a:ln/>
        </p:spPr>
        <p:txBody>
          <a:bodyPr wrap="square" lIns="0" tIns="0" rIns="0" bIns="0" rtlCol="0" anchor="t"/>
          <a:lstStyle/>
          <a:p>
            <a:pPr indent="0" marL="0">
              <a:buNone/>
            </a:pPr>
            <a:r>
              <a:rPr lang="en-US" sz="1000" dirty="0">
                <a:solidFill>
                  <a:srgbClr val="334155"/>
                </a:solidFill>
              </a:rPr>
              <a:t>The pipeline trace shows route, cache, timings, stage cards, and raw JSON.</a:t>
            </a:r>
            <a:endParaRPr lang="en-US" sz="1000" dirty="0"/>
          </a:p>
        </p:txBody>
      </p:sp>
      <p:sp>
        <p:nvSpPr>
          <p:cNvPr id="21" name="Shape 18"/>
          <p:cNvSpPr/>
          <p:nvPr/>
        </p:nvSpPr>
        <p:spPr>
          <a:xfrm>
            <a:off x="749808" y="5833872"/>
            <a:ext cx="10625328" cy="420624"/>
          </a:xfrm>
          <a:prstGeom prst="roundRect">
            <a:avLst>
              <a:gd name="adj" fmla="val 30435"/>
            </a:avLst>
          </a:prstGeom>
          <a:solidFill>
            <a:srgbClr val="FFFFFF"/>
          </a:solidFill>
          <a:ln w="12700">
            <a:solidFill>
              <a:srgbClr val="CBD5E1"/>
            </a:solidFill>
            <a:prstDash val="solid"/>
          </a:ln>
        </p:spPr>
      </p:sp>
      <p:sp>
        <p:nvSpPr>
          <p:cNvPr id="22" name="Text 19"/>
          <p:cNvSpPr/>
          <p:nvPr/>
        </p:nvSpPr>
        <p:spPr>
          <a:xfrm>
            <a:off x="932688" y="5943600"/>
            <a:ext cx="749808" cy="146304"/>
          </a:xfrm>
          <a:prstGeom prst="rect">
            <a:avLst/>
          </a:prstGeom>
          <a:noFill/>
          <a:ln/>
        </p:spPr>
        <p:txBody>
          <a:bodyPr wrap="square" lIns="0" tIns="0" rIns="0" bIns="0" rtlCol="0" anchor="ctr"/>
          <a:lstStyle/>
          <a:p>
            <a:pPr indent="0" marL="0">
              <a:buNone/>
            </a:pPr>
            <a:r>
              <a:rPr lang="en-US" sz="860" b="1" dirty="0">
                <a:solidFill>
                  <a:srgbClr val="115E59"/>
                </a:solidFill>
                <a:latin typeface="Lato" pitchFamily="34" charset="0"/>
                <a:ea typeface="Lato" pitchFamily="34" charset="-122"/>
                <a:cs typeface="Lato" pitchFamily="34" charset="-120"/>
              </a:rPr>
              <a:t>Show live:</a:t>
            </a:r>
            <a:endParaRPr lang="en-US" sz="860" dirty="0"/>
          </a:p>
        </p:txBody>
      </p:sp>
      <p:sp>
        <p:nvSpPr>
          <p:cNvPr id="23" name="Text 20"/>
          <p:cNvSpPr/>
          <p:nvPr/>
        </p:nvSpPr>
        <p:spPr>
          <a:xfrm>
            <a:off x="1938528" y="5943600"/>
            <a:ext cx="9034272" cy="146304"/>
          </a:xfrm>
          <a:prstGeom prst="rect">
            <a:avLst/>
          </a:prstGeom>
          <a:noFill/>
          <a:ln/>
        </p:spPr>
        <p:txBody>
          <a:bodyPr wrap="square" lIns="0" tIns="0" rIns="0" bIns="0" rtlCol="0" anchor="ctr"/>
          <a:lstStyle/>
          <a:p>
            <a:pPr indent="0" marL="0">
              <a:buNone/>
            </a:pPr>
            <a:r>
              <a:rPr lang="en-US" sz="820" dirty="0">
                <a:solidFill>
                  <a:srgbClr val="334155"/>
                </a:solidFill>
                <a:latin typeface="DejaVu Sans Mono" pitchFamily="34" charset="0"/>
                <a:ea typeface="DejaVu Sans Mono" pitchFamily="34" charset="-122"/>
                <a:cs typeface="DejaVu Sans Mono" pitchFamily="34" charset="-120"/>
              </a:rPr>
              <a:t>frontend/src/App.tsx · source drawer · trace drawer</a:t>
            </a:r>
            <a:endParaRPr lang="en-US" sz="820" dirty="0"/>
          </a:p>
        </p:txBody>
      </p:sp>
      <p:sp>
        <p:nvSpPr>
          <p:cNvPr id="24" name="Shape 21"/>
          <p:cNvSpPr/>
          <p:nvPr/>
        </p:nvSpPr>
        <p:spPr>
          <a:xfrm>
            <a:off x="640080" y="6419088"/>
            <a:ext cx="10927080" cy="0"/>
          </a:xfrm>
          <a:prstGeom prst="line">
            <a:avLst/>
          </a:prstGeom>
          <a:noFill/>
          <a:ln w="12700">
            <a:solidFill>
              <a:srgbClr val="CBD5E1"/>
            </a:solidFill>
            <a:prstDash val="solid"/>
          </a:ln>
        </p:spPr>
      </p:sp>
      <p:sp>
        <p:nvSpPr>
          <p:cNvPr id="25" name="Text 22"/>
          <p:cNvSpPr/>
          <p:nvPr/>
        </p:nvSpPr>
        <p:spPr>
          <a:xfrm>
            <a:off x="658368" y="6473952"/>
            <a:ext cx="4480560" cy="164592"/>
          </a:xfrm>
          <a:prstGeom prst="rect">
            <a:avLst/>
          </a:prstGeom>
          <a:noFill/>
          <a:ln/>
        </p:spPr>
        <p:txBody>
          <a:bodyPr wrap="square" lIns="0" tIns="0" rIns="0" bIns="0" rtlCol="0" anchor="ctr"/>
          <a:lstStyle/>
          <a:p>
            <a:pPr indent="0" marL="0">
              <a:buNone/>
            </a:pPr>
            <a:r>
              <a:rPr lang="en-US" sz="800" dirty="0">
                <a:solidFill>
                  <a:srgbClr val="64748B"/>
                </a:solidFill>
                <a:latin typeface="Lato" pitchFamily="34" charset="0"/>
                <a:ea typeface="Lato" pitchFamily="34" charset="-122"/>
                <a:cs typeface="Lato" pitchFamily="34" charset="-120"/>
              </a:rPr>
              <a:t>Slide 7 · UI and inspectability</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5EF"/>
          </a:solidFill>
          <a:ln w="12700">
            <a:solidFill>
              <a:srgbClr val="F7F5EF"/>
            </a:solidFill>
            <a:prstDash val="solid"/>
          </a:ln>
        </p:spPr>
      </p:sp>
      <p:sp>
        <p:nvSpPr>
          <p:cNvPr id="3" name="Shape 1"/>
          <p:cNvSpPr/>
          <p:nvPr/>
        </p:nvSpPr>
        <p:spPr>
          <a:xfrm>
            <a:off x="566928" y="384048"/>
            <a:ext cx="950976" cy="73152"/>
          </a:xfrm>
          <a:prstGeom prst="roundRect">
            <a:avLst>
              <a:gd name="adj" fmla="val 50000"/>
            </a:avLst>
          </a:prstGeom>
          <a:solidFill>
            <a:srgbClr val="0F766E"/>
          </a:solidFill>
          <a:ln w="12700">
            <a:solidFill>
              <a:srgbClr val="0F766E">
                <a:alpha val="0"/>
              </a:srgbClr>
            </a:solidFill>
            <a:prstDash val="solid"/>
          </a:ln>
        </p:spPr>
      </p:sp>
      <p:sp>
        <p:nvSpPr>
          <p:cNvPr id="4" name="Text 2"/>
          <p:cNvSpPr/>
          <p:nvPr/>
        </p:nvSpPr>
        <p:spPr>
          <a:xfrm>
            <a:off x="640080" y="512064"/>
            <a:ext cx="2377440" cy="201168"/>
          </a:xfrm>
          <a:prstGeom prst="rect">
            <a:avLst/>
          </a:prstGeom>
          <a:noFill/>
          <a:ln/>
        </p:spPr>
        <p:txBody>
          <a:bodyPr wrap="square" lIns="0" tIns="0" rIns="0" bIns="0" rtlCol="0" anchor="ctr"/>
          <a:lstStyle/>
          <a:p>
            <a:pPr indent="0" marL="0">
              <a:buNone/>
            </a:pPr>
            <a:r>
              <a:rPr lang="en-US" sz="880" b="1" dirty="0">
                <a:solidFill>
                  <a:srgbClr val="0F766E"/>
                </a:solidFill>
                <a:latin typeface="Lato" pitchFamily="34" charset="0"/>
                <a:ea typeface="Lato" pitchFamily="34" charset="-122"/>
                <a:cs typeface="Lato" pitchFamily="34" charset="-120"/>
              </a:rPr>
              <a:t>TRADEOFFS</a:t>
            </a:r>
            <a:endParaRPr lang="en-US" sz="880" dirty="0"/>
          </a:p>
        </p:txBody>
      </p:sp>
      <p:sp>
        <p:nvSpPr>
          <p:cNvPr id="5" name="Text 3"/>
          <p:cNvSpPr/>
          <p:nvPr/>
        </p:nvSpPr>
        <p:spPr>
          <a:xfrm>
            <a:off x="640080" y="768096"/>
            <a:ext cx="7498080" cy="694944"/>
          </a:xfrm>
          <a:prstGeom prst="rect">
            <a:avLst/>
          </a:prstGeom>
          <a:noFill/>
          <a:ln/>
        </p:spPr>
        <p:txBody>
          <a:bodyPr wrap="square" lIns="0" tIns="0" rIns="0" bIns="0" rtlCol="0" anchor="ctr"/>
          <a:lstStyle/>
          <a:p>
            <a:pPr indent="0" marL="0">
              <a:buNone/>
            </a:pPr>
            <a:r>
              <a:rPr lang="en-US" sz="2616" b="1" dirty="0">
                <a:solidFill>
                  <a:srgbClr val="111827"/>
                </a:solidFill>
              </a:rPr>
              <a:t>Tradeoffs and Design Decisions</a:t>
            </a:r>
            <a:endParaRPr lang="en-US" sz="2616" dirty="0"/>
          </a:p>
        </p:txBody>
      </p:sp>
      <p:sp>
        <p:nvSpPr>
          <p:cNvPr id="6" name="Text 4"/>
          <p:cNvSpPr/>
          <p:nvPr/>
        </p:nvSpPr>
        <p:spPr>
          <a:xfrm>
            <a:off x="676656" y="1481328"/>
            <a:ext cx="7040880" cy="310896"/>
          </a:xfrm>
          <a:prstGeom prst="rect">
            <a:avLst/>
          </a:prstGeom>
          <a:noFill/>
          <a:ln/>
        </p:spPr>
        <p:txBody>
          <a:bodyPr wrap="square" lIns="0" tIns="0" rIns="0" bIns="0" rtlCol="0" anchor="ctr"/>
          <a:lstStyle/>
          <a:p>
            <a:pPr indent="0" marL="0">
              <a:buNone/>
            </a:pPr>
            <a:r>
              <a:rPr lang="en-US" sz="1120" dirty="0">
                <a:solidFill>
                  <a:srgbClr val="334155"/>
                </a:solidFill>
              </a:rPr>
              <a:t>Prefer the simplest design that solves the right risk first: routing, grounding, citation validity, and debuggability.</a:t>
            </a:r>
            <a:endParaRPr lang="en-US" sz="1120" dirty="0"/>
          </a:p>
        </p:txBody>
      </p:sp>
      <p:sp>
        <p:nvSpPr>
          <p:cNvPr id="7" name="Text 5"/>
          <p:cNvSpPr/>
          <p:nvPr/>
        </p:nvSpPr>
        <p:spPr>
          <a:xfrm>
            <a:off x="11247120" y="457200"/>
            <a:ext cx="411480" cy="201168"/>
          </a:xfrm>
          <a:prstGeom prst="rect">
            <a:avLst/>
          </a:prstGeom>
          <a:noFill/>
          <a:ln/>
        </p:spPr>
        <p:txBody>
          <a:bodyPr wrap="square" lIns="0" tIns="0" rIns="0" bIns="0" rtlCol="0" anchor="ctr"/>
          <a:lstStyle/>
          <a:p>
            <a:pPr algn="r" indent="0" marL="0">
              <a:buNone/>
            </a:pPr>
            <a:r>
              <a:rPr lang="en-US" sz="900" dirty="0">
                <a:solidFill>
                  <a:srgbClr val="64748B"/>
                </a:solidFill>
                <a:latin typeface="Lato" pitchFamily="34" charset="0"/>
                <a:ea typeface="Lato" pitchFamily="34" charset="-122"/>
                <a:cs typeface="Lato" pitchFamily="34" charset="-120"/>
              </a:rPr>
              <a:t>08</a:t>
            </a:r>
            <a:endParaRPr lang="en-US" sz="900" dirty="0"/>
          </a:p>
        </p:txBody>
      </p:sp>
      <p:sp>
        <p:nvSpPr>
          <p:cNvPr id="8" name="Shape 6"/>
          <p:cNvSpPr/>
          <p:nvPr/>
        </p:nvSpPr>
        <p:spPr>
          <a:xfrm>
            <a:off x="768096" y="1901952"/>
            <a:ext cx="5084064" cy="3730752"/>
          </a:xfrm>
          <a:prstGeom prst="roundRect">
            <a:avLst>
              <a:gd name="adj" fmla="val 3922"/>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9" name="Shape 7"/>
          <p:cNvSpPr/>
          <p:nvPr/>
        </p:nvSpPr>
        <p:spPr>
          <a:xfrm>
            <a:off x="804672" y="1975104"/>
            <a:ext cx="73152" cy="3584448"/>
          </a:xfrm>
          <a:prstGeom prst="roundRect">
            <a:avLst>
              <a:gd name="adj" fmla="val 50000"/>
            </a:avLst>
          </a:prstGeom>
          <a:solidFill>
            <a:srgbClr val="0F766E"/>
          </a:solidFill>
          <a:ln w="12700">
            <a:solidFill>
              <a:srgbClr val="0F766E">
                <a:alpha val="0"/>
              </a:srgbClr>
            </a:solidFill>
            <a:prstDash val="solid"/>
          </a:ln>
        </p:spPr>
      </p:sp>
      <p:sp>
        <p:nvSpPr>
          <p:cNvPr id="10" name="Text 8"/>
          <p:cNvSpPr/>
          <p:nvPr/>
        </p:nvSpPr>
        <p:spPr>
          <a:xfrm>
            <a:off x="950976" y="2048256"/>
            <a:ext cx="4809744" cy="274320"/>
          </a:xfrm>
          <a:prstGeom prst="rect">
            <a:avLst/>
          </a:prstGeom>
          <a:noFill/>
          <a:ln/>
        </p:spPr>
        <p:txBody>
          <a:bodyPr wrap="square" lIns="0" tIns="0" rIns="0" bIns="0" rtlCol="0" anchor="ctr"/>
          <a:lstStyle/>
          <a:p>
            <a:pPr indent="0" marL="0">
              <a:buNone/>
            </a:pPr>
            <a:r>
              <a:rPr lang="en-US" sz="1300" b="1" dirty="0">
                <a:solidFill>
                  <a:srgbClr val="111827"/>
                </a:solidFill>
              </a:rPr>
              <a:t>What I chose</a:t>
            </a:r>
            <a:endParaRPr lang="en-US" sz="1300" dirty="0"/>
          </a:p>
        </p:txBody>
      </p:sp>
      <p:sp>
        <p:nvSpPr>
          <p:cNvPr id="11" name="Text 9"/>
          <p:cNvSpPr/>
          <p:nvPr/>
        </p:nvSpPr>
        <p:spPr>
          <a:xfrm>
            <a:off x="950976" y="2377440"/>
            <a:ext cx="4809744" cy="3090672"/>
          </a:xfrm>
          <a:prstGeom prst="rect">
            <a:avLst/>
          </a:prstGeom>
          <a:noFill/>
          <a:ln/>
        </p:spPr>
        <p:txBody>
          <a:bodyPr wrap="square" lIns="0" tIns="0" rIns="0" bIns="0" rtlCol="0" anchor="t"/>
          <a:lstStyle/>
          <a:p>
            <a:pPr indent="0" marL="0">
              <a:buNone/>
            </a:pPr>
            <a:r>
              <a:rPr lang="en-US" sz="1197" dirty="0">
                <a:solidFill>
                  <a:srgbClr val="334155"/>
                </a:solidFill>
              </a:rPr>
              <a:t>live retrieval + SQLite cache</a:t>
            </a:r>
            <a:endParaRPr lang="en-US" sz="1197" dirty="0"/>
          </a:p>
          <a:p>
            <a:pPr indent="0" marL="0">
              <a:buNone/>
            </a:pPr>
            <a:r>
              <a:rPr lang="en-US" sz="1197" dirty="0">
                <a:solidFill>
                  <a:srgbClr val="334155"/>
                </a:solidFill>
              </a:rPr>
              <a:t>bounded reranking instead of a vector database</a:t>
            </a:r>
            <a:endParaRPr lang="en-US" sz="1197" dirty="0"/>
          </a:p>
          <a:p>
            <a:pPr indent="0" marL="0">
              <a:buNone/>
            </a:pPr>
            <a:r>
              <a:rPr lang="en-US" sz="1197" dirty="0">
                <a:solidFill>
                  <a:srgbClr val="334155"/>
                </a:solidFill>
              </a:rPr>
              <a:t>provider-neutral OpenAI or vLLM layer</a:t>
            </a:r>
            <a:endParaRPr lang="en-US" sz="1197" dirty="0"/>
          </a:p>
          <a:p>
            <a:pPr indent="0" marL="0">
              <a:buNone/>
            </a:pPr>
            <a:r>
              <a:rPr lang="en-US" sz="1197" dirty="0">
                <a:solidFill>
                  <a:srgbClr val="334155"/>
                </a:solidFill>
              </a:rPr>
              <a:t>abstract-grounded PubMed baseline</a:t>
            </a:r>
            <a:endParaRPr lang="en-US" sz="1197" dirty="0"/>
          </a:p>
          <a:p>
            <a:pPr indent="0" marL="0">
              <a:buNone/>
            </a:pPr>
            <a:r>
              <a:rPr lang="en-US" sz="1197" dirty="0">
                <a:solidFill>
                  <a:srgbClr val="334155"/>
                </a:solidFill>
              </a:rPr>
              <a:t>single-turn UX</a:t>
            </a:r>
            <a:endParaRPr lang="en-US" sz="1197" dirty="0"/>
          </a:p>
        </p:txBody>
      </p:sp>
      <p:sp>
        <p:nvSpPr>
          <p:cNvPr id="12" name="Shape 10"/>
          <p:cNvSpPr/>
          <p:nvPr/>
        </p:nvSpPr>
        <p:spPr>
          <a:xfrm>
            <a:off x="6053328" y="1901952"/>
            <a:ext cx="5084064" cy="3730752"/>
          </a:xfrm>
          <a:prstGeom prst="roundRect">
            <a:avLst>
              <a:gd name="adj" fmla="val 3922"/>
            </a:avLst>
          </a:prstGeom>
          <a:solidFill>
            <a:srgbClr val="DFF6F2"/>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3" name="Shape 11"/>
          <p:cNvSpPr/>
          <p:nvPr/>
        </p:nvSpPr>
        <p:spPr>
          <a:xfrm>
            <a:off x="6089904" y="1975104"/>
            <a:ext cx="73152" cy="3584448"/>
          </a:xfrm>
          <a:prstGeom prst="roundRect">
            <a:avLst>
              <a:gd name="adj" fmla="val 50000"/>
            </a:avLst>
          </a:prstGeom>
          <a:solidFill>
            <a:srgbClr val="0F766E"/>
          </a:solidFill>
          <a:ln w="12700">
            <a:solidFill>
              <a:srgbClr val="0F766E">
                <a:alpha val="0"/>
              </a:srgbClr>
            </a:solidFill>
            <a:prstDash val="solid"/>
          </a:ln>
        </p:spPr>
      </p:sp>
      <p:sp>
        <p:nvSpPr>
          <p:cNvPr id="14" name="Text 12"/>
          <p:cNvSpPr/>
          <p:nvPr/>
        </p:nvSpPr>
        <p:spPr>
          <a:xfrm>
            <a:off x="6236208" y="2048256"/>
            <a:ext cx="4809744" cy="274320"/>
          </a:xfrm>
          <a:prstGeom prst="rect">
            <a:avLst/>
          </a:prstGeom>
          <a:noFill/>
          <a:ln/>
        </p:spPr>
        <p:txBody>
          <a:bodyPr wrap="square" lIns="0" tIns="0" rIns="0" bIns="0" rtlCol="0" anchor="ctr"/>
          <a:lstStyle/>
          <a:p>
            <a:pPr indent="0" marL="0">
              <a:buNone/>
            </a:pPr>
            <a:r>
              <a:rPr lang="en-US" sz="1300" b="1" dirty="0">
                <a:solidFill>
                  <a:srgbClr val="111827"/>
                </a:solidFill>
              </a:rPr>
              <a:t>Why I chose it</a:t>
            </a:r>
            <a:endParaRPr lang="en-US" sz="1300" dirty="0"/>
          </a:p>
        </p:txBody>
      </p:sp>
      <p:sp>
        <p:nvSpPr>
          <p:cNvPr id="15" name="Text 13"/>
          <p:cNvSpPr/>
          <p:nvPr/>
        </p:nvSpPr>
        <p:spPr>
          <a:xfrm>
            <a:off x="6236208" y="2377440"/>
            <a:ext cx="4809744" cy="3090672"/>
          </a:xfrm>
          <a:prstGeom prst="rect">
            <a:avLst/>
          </a:prstGeom>
          <a:noFill/>
          <a:ln/>
        </p:spPr>
        <p:txBody>
          <a:bodyPr wrap="square" lIns="0" tIns="0" rIns="0" bIns="0" rtlCol="0" anchor="t"/>
          <a:lstStyle/>
          <a:p>
            <a:pPr indent="0" marL="0">
              <a:buNone/>
            </a:pPr>
            <a:r>
              <a:rPr lang="en-US" sz="1197" dirty="0">
                <a:solidFill>
                  <a:srgbClr val="334155"/>
                </a:solidFill>
              </a:rPr>
              <a:t>faster to build and easier to debug</a:t>
            </a:r>
            <a:endParaRPr lang="en-US" sz="1197" dirty="0"/>
          </a:p>
          <a:p>
            <a:pPr indent="0" marL="0">
              <a:buNone/>
            </a:pPr>
            <a:r>
              <a:rPr lang="en-US" sz="1197" dirty="0">
                <a:solidFill>
                  <a:srgbClr val="334155"/>
                </a:solidFill>
              </a:rPr>
              <a:t>higher early risk is wrong routing and weak grounding, not missing infrastructure</a:t>
            </a:r>
            <a:endParaRPr lang="en-US" sz="1197" dirty="0"/>
          </a:p>
          <a:p>
            <a:pPr indent="0" marL="0">
              <a:buNone/>
            </a:pPr>
            <a:r>
              <a:rPr lang="en-US" sz="1197" dirty="0">
                <a:solidFill>
                  <a:srgbClr val="334155"/>
                </a:solidFill>
              </a:rPr>
              <a:t>cheaper and easier to demo locally</a:t>
            </a:r>
            <a:endParaRPr lang="en-US" sz="1197" dirty="0"/>
          </a:p>
          <a:p>
            <a:pPr indent="0" marL="0">
              <a:buNone/>
            </a:pPr>
            <a:r>
              <a:rPr lang="en-US" sz="1197" dirty="0">
                <a:solidFill>
                  <a:srgbClr val="334155"/>
                </a:solidFill>
              </a:rPr>
              <a:t>honest evidence depth</a:t>
            </a:r>
            <a:endParaRPr lang="en-US" sz="1197" dirty="0"/>
          </a:p>
          <a:p>
            <a:pPr indent="0" marL="0">
              <a:buNone/>
            </a:pPr>
            <a:r>
              <a:rPr lang="en-US" sz="1197" dirty="0">
                <a:solidFill>
                  <a:srgbClr val="334155"/>
                </a:solidFill>
              </a:rPr>
              <a:t>better trust and inspectability</a:t>
            </a:r>
            <a:endParaRPr lang="en-US" sz="1197" dirty="0"/>
          </a:p>
        </p:txBody>
      </p:sp>
      <p:sp>
        <p:nvSpPr>
          <p:cNvPr id="16" name="Shape 14"/>
          <p:cNvSpPr/>
          <p:nvPr/>
        </p:nvSpPr>
        <p:spPr>
          <a:xfrm>
            <a:off x="749808" y="5833872"/>
            <a:ext cx="10625328" cy="420624"/>
          </a:xfrm>
          <a:prstGeom prst="roundRect">
            <a:avLst>
              <a:gd name="adj" fmla="val 30435"/>
            </a:avLst>
          </a:prstGeom>
          <a:solidFill>
            <a:srgbClr val="FFFFFF"/>
          </a:solidFill>
          <a:ln w="12700">
            <a:solidFill>
              <a:srgbClr val="CBD5E1"/>
            </a:solidFill>
            <a:prstDash val="solid"/>
          </a:ln>
        </p:spPr>
      </p:sp>
      <p:sp>
        <p:nvSpPr>
          <p:cNvPr id="17" name="Text 15"/>
          <p:cNvSpPr/>
          <p:nvPr/>
        </p:nvSpPr>
        <p:spPr>
          <a:xfrm>
            <a:off x="932688" y="5943600"/>
            <a:ext cx="749808" cy="146304"/>
          </a:xfrm>
          <a:prstGeom prst="rect">
            <a:avLst/>
          </a:prstGeom>
          <a:noFill/>
          <a:ln/>
        </p:spPr>
        <p:txBody>
          <a:bodyPr wrap="square" lIns="0" tIns="0" rIns="0" bIns="0" rtlCol="0" anchor="ctr"/>
          <a:lstStyle/>
          <a:p>
            <a:pPr indent="0" marL="0">
              <a:buNone/>
            </a:pPr>
            <a:r>
              <a:rPr lang="en-US" sz="860" b="1" dirty="0">
                <a:solidFill>
                  <a:srgbClr val="115E59"/>
                </a:solidFill>
                <a:latin typeface="Lato" pitchFamily="34" charset="0"/>
                <a:ea typeface="Lato" pitchFamily="34" charset="-122"/>
                <a:cs typeface="Lato" pitchFamily="34" charset="-120"/>
              </a:rPr>
              <a:t>Show live:</a:t>
            </a:r>
            <a:endParaRPr lang="en-US" sz="860" dirty="0"/>
          </a:p>
        </p:txBody>
      </p:sp>
      <p:sp>
        <p:nvSpPr>
          <p:cNvPr id="18" name="Text 16"/>
          <p:cNvSpPr/>
          <p:nvPr/>
        </p:nvSpPr>
        <p:spPr>
          <a:xfrm>
            <a:off x="1938528" y="5943600"/>
            <a:ext cx="9034272" cy="146304"/>
          </a:xfrm>
          <a:prstGeom prst="rect">
            <a:avLst/>
          </a:prstGeom>
          <a:noFill/>
          <a:ln/>
        </p:spPr>
        <p:txBody>
          <a:bodyPr wrap="square" lIns="0" tIns="0" rIns="0" bIns="0" rtlCol="0" anchor="ctr"/>
          <a:lstStyle/>
          <a:p>
            <a:pPr indent="0" marL="0">
              <a:buNone/>
            </a:pPr>
            <a:r>
              <a:rPr lang="en-US" sz="820" dirty="0">
                <a:solidFill>
                  <a:srgbClr val="334155"/>
                </a:solidFill>
                <a:latin typeface="DejaVu Sans Mono" pitchFamily="34" charset="0"/>
                <a:ea typeface="DejaVu Sans Mono" pitchFamily="34" charset="-122"/>
                <a:cs typeface="DejaVu Sans Mono" pitchFamily="34" charset="-120"/>
              </a:rPr>
              <a:t>backend/app/services/cache.py · backend/app/services/llm_service.py</a:t>
            </a:r>
            <a:endParaRPr lang="en-US" sz="820" dirty="0"/>
          </a:p>
        </p:txBody>
      </p:sp>
      <p:sp>
        <p:nvSpPr>
          <p:cNvPr id="19" name="Shape 17"/>
          <p:cNvSpPr/>
          <p:nvPr/>
        </p:nvSpPr>
        <p:spPr>
          <a:xfrm>
            <a:off x="640080" y="6419088"/>
            <a:ext cx="10927080" cy="0"/>
          </a:xfrm>
          <a:prstGeom prst="line">
            <a:avLst/>
          </a:prstGeom>
          <a:noFill/>
          <a:ln w="12700">
            <a:solidFill>
              <a:srgbClr val="CBD5E1"/>
            </a:solidFill>
            <a:prstDash val="solid"/>
          </a:ln>
        </p:spPr>
      </p:sp>
      <p:sp>
        <p:nvSpPr>
          <p:cNvPr id="20" name="Text 18"/>
          <p:cNvSpPr/>
          <p:nvPr/>
        </p:nvSpPr>
        <p:spPr>
          <a:xfrm>
            <a:off x="658368" y="6473952"/>
            <a:ext cx="4480560" cy="164592"/>
          </a:xfrm>
          <a:prstGeom prst="rect">
            <a:avLst/>
          </a:prstGeom>
          <a:noFill/>
          <a:ln/>
        </p:spPr>
        <p:txBody>
          <a:bodyPr wrap="square" lIns="0" tIns="0" rIns="0" bIns="0" rtlCol="0" anchor="ctr"/>
          <a:lstStyle/>
          <a:p>
            <a:pPr indent="0" marL="0">
              <a:buNone/>
            </a:pPr>
            <a:r>
              <a:rPr lang="en-US" sz="800" dirty="0">
                <a:solidFill>
                  <a:srgbClr val="64748B"/>
                </a:solidFill>
                <a:latin typeface="Lato" pitchFamily="34" charset="0"/>
                <a:ea typeface="Lato" pitchFamily="34" charset="-122"/>
                <a:cs typeface="Lato" pitchFamily="34" charset="-120"/>
              </a:rPr>
              <a:t>Slide 8 · tradeoffs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5EF"/>
          </a:solidFill>
          <a:ln w="12700">
            <a:solidFill>
              <a:srgbClr val="F7F5EF"/>
            </a:solidFill>
            <a:prstDash val="solid"/>
          </a:ln>
        </p:spPr>
      </p:sp>
      <p:sp>
        <p:nvSpPr>
          <p:cNvPr id="3" name="Shape 1"/>
          <p:cNvSpPr/>
          <p:nvPr/>
        </p:nvSpPr>
        <p:spPr>
          <a:xfrm>
            <a:off x="566928" y="384048"/>
            <a:ext cx="950976" cy="73152"/>
          </a:xfrm>
          <a:prstGeom prst="roundRect">
            <a:avLst>
              <a:gd name="adj" fmla="val 50000"/>
            </a:avLst>
          </a:prstGeom>
          <a:solidFill>
            <a:srgbClr val="0F766E"/>
          </a:solidFill>
          <a:ln w="12700">
            <a:solidFill>
              <a:srgbClr val="0F766E">
                <a:alpha val="0"/>
              </a:srgbClr>
            </a:solidFill>
            <a:prstDash val="solid"/>
          </a:ln>
        </p:spPr>
      </p:sp>
      <p:sp>
        <p:nvSpPr>
          <p:cNvPr id="4" name="Text 2"/>
          <p:cNvSpPr/>
          <p:nvPr/>
        </p:nvSpPr>
        <p:spPr>
          <a:xfrm>
            <a:off x="640080" y="512064"/>
            <a:ext cx="2377440" cy="201168"/>
          </a:xfrm>
          <a:prstGeom prst="rect">
            <a:avLst/>
          </a:prstGeom>
          <a:noFill/>
          <a:ln/>
        </p:spPr>
        <p:txBody>
          <a:bodyPr wrap="square" lIns="0" tIns="0" rIns="0" bIns="0" rtlCol="0" anchor="ctr"/>
          <a:lstStyle/>
          <a:p>
            <a:pPr indent="0" marL="0">
              <a:buNone/>
            </a:pPr>
            <a:r>
              <a:rPr lang="en-US" sz="880" b="1" dirty="0">
                <a:solidFill>
                  <a:srgbClr val="0F766E"/>
                </a:solidFill>
                <a:latin typeface="Lato" pitchFamily="34" charset="0"/>
                <a:ea typeface="Lato" pitchFamily="34" charset="-122"/>
                <a:cs typeface="Lato" pitchFamily="34" charset="-120"/>
              </a:rPr>
              <a:t>LIVE DEMO</a:t>
            </a:r>
            <a:endParaRPr lang="en-US" sz="880" dirty="0"/>
          </a:p>
        </p:txBody>
      </p:sp>
      <p:sp>
        <p:nvSpPr>
          <p:cNvPr id="5" name="Text 3"/>
          <p:cNvSpPr/>
          <p:nvPr/>
        </p:nvSpPr>
        <p:spPr>
          <a:xfrm>
            <a:off x="640080" y="768096"/>
            <a:ext cx="7498080" cy="694944"/>
          </a:xfrm>
          <a:prstGeom prst="rect">
            <a:avLst/>
          </a:prstGeom>
          <a:noFill/>
          <a:ln/>
        </p:spPr>
        <p:txBody>
          <a:bodyPr wrap="square" lIns="0" tIns="0" rIns="0" bIns="0" rtlCol="0" anchor="ctr"/>
          <a:lstStyle/>
          <a:p>
            <a:pPr indent="0" marL="0">
              <a:buNone/>
            </a:pPr>
            <a:r>
              <a:rPr lang="en-US" sz="2616" b="1" dirty="0">
                <a:solidFill>
                  <a:srgbClr val="111827"/>
                </a:solidFill>
              </a:rPr>
              <a:t>What I Would Show Live During the Interview</a:t>
            </a:r>
            <a:endParaRPr lang="en-US" sz="2616" dirty="0"/>
          </a:p>
        </p:txBody>
      </p:sp>
      <p:sp>
        <p:nvSpPr>
          <p:cNvPr id="6" name="Text 4"/>
          <p:cNvSpPr/>
          <p:nvPr/>
        </p:nvSpPr>
        <p:spPr>
          <a:xfrm>
            <a:off x="676656" y="1481328"/>
            <a:ext cx="7040880" cy="310896"/>
          </a:xfrm>
          <a:prstGeom prst="rect">
            <a:avLst/>
          </a:prstGeom>
          <a:noFill/>
          <a:ln/>
        </p:spPr>
        <p:txBody>
          <a:bodyPr wrap="square" lIns="0" tIns="0" rIns="0" bIns="0" rtlCol="0" anchor="ctr"/>
          <a:lstStyle/>
          <a:p>
            <a:pPr indent="0" marL="0">
              <a:buNone/>
            </a:pPr>
            <a:r>
              <a:rPr lang="en-US" sz="1120" dirty="0">
                <a:solidFill>
                  <a:srgbClr val="334155"/>
                </a:solidFill>
              </a:rPr>
              <a:t>Keep the demo simple: one question, one citation drill-down, one trace drill-down, then map that behavior back to the code.</a:t>
            </a:r>
            <a:endParaRPr lang="en-US" sz="1120" dirty="0"/>
          </a:p>
        </p:txBody>
      </p:sp>
      <p:sp>
        <p:nvSpPr>
          <p:cNvPr id="7" name="Text 5"/>
          <p:cNvSpPr/>
          <p:nvPr/>
        </p:nvSpPr>
        <p:spPr>
          <a:xfrm>
            <a:off x="11247120" y="457200"/>
            <a:ext cx="411480" cy="201168"/>
          </a:xfrm>
          <a:prstGeom prst="rect">
            <a:avLst/>
          </a:prstGeom>
          <a:noFill/>
          <a:ln/>
        </p:spPr>
        <p:txBody>
          <a:bodyPr wrap="square" lIns="0" tIns="0" rIns="0" bIns="0" rtlCol="0" anchor="ctr"/>
          <a:lstStyle/>
          <a:p>
            <a:pPr algn="r" indent="0" marL="0">
              <a:buNone/>
            </a:pPr>
            <a:r>
              <a:rPr lang="en-US" sz="900" dirty="0">
                <a:solidFill>
                  <a:srgbClr val="64748B"/>
                </a:solidFill>
                <a:latin typeface="Lato" pitchFamily="34" charset="0"/>
                <a:ea typeface="Lato" pitchFamily="34" charset="-122"/>
                <a:cs typeface="Lato" pitchFamily="34" charset="-120"/>
              </a:rPr>
              <a:t>09</a:t>
            </a:r>
            <a:endParaRPr lang="en-US" sz="9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70660" y="1828800"/>
            <a:ext cx="9220200" cy="2514600"/>
          </a:xfrm>
          <a:prstGeom prst="rect">
            <a:avLst/>
          </a:prstGeom>
        </p:spPr>
      </p:pic>
      <p:sp>
        <p:nvSpPr>
          <p:cNvPr id="9" name="Shape 6"/>
          <p:cNvSpPr/>
          <p:nvPr/>
        </p:nvSpPr>
        <p:spPr>
          <a:xfrm>
            <a:off x="841248" y="4590288"/>
            <a:ext cx="3419856" cy="987552"/>
          </a:xfrm>
          <a:prstGeom prst="roundRect">
            <a:avLst>
              <a:gd name="adj" fmla="val 14815"/>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0" name="Shape 7"/>
          <p:cNvSpPr/>
          <p:nvPr/>
        </p:nvSpPr>
        <p:spPr>
          <a:xfrm>
            <a:off x="877824" y="4663440"/>
            <a:ext cx="73152" cy="841248"/>
          </a:xfrm>
          <a:prstGeom prst="roundRect">
            <a:avLst>
              <a:gd name="adj" fmla="val 50000"/>
            </a:avLst>
          </a:prstGeom>
          <a:solidFill>
            <a:srgbClr val="0F766E"/>
          </a:solidFill>
          <a:ln w="12700">
            <a:solidFill>
              <a:srgbClr val="0F766E">
                <a:alpha val="0"/>
              </a:srgbClr>
            </a:solidFill>
            <a:prstDash val="solid"/>
          </a:ln>
        </p:spPr>
      </p:sp>
      <p:sp>
        <p:nvSpPr>
          <p:cNvPr id="11" name="Text 8"/>
          <p:cNvSpPr/>
          <p:nvPr/>
        </p:nvSpPr>
        <p:spPr>
          <a:xfrm>
            <a:off x="1024128" y="4736592"/>
            <a:ext cx="3145536" cy="274320"/>
          </a:xfrm>
          <a:prstGeom prst="rect">
            <a:avLst/>
          </a:prstGeom>
          <a:noFill/>
          <a:ln/>
        </p:spPr>
        <p:txBody>
          <a:bodyPr wrap="square" lIns="0" tIns="0" rIns="0" bIns="0" rtlCol="0" anchor="ctr"/>
          <a:lstStyle/>
          <a:p>
            <a:pPr indent="0" marL="0">
              <a:buNone/>
            </a:pPr>
            <a:r>
              <a:rPr lang="en-US" sz="1300" b="1" dirty="0">
                <a:solidFill>
                  <a:srgbClr val="111827"/>
                </a:solidFill>
              </a:rPr>
              <a:t>Best first click</a:t>
            </a:r>
            <a:endParaRPr lang="en-US" sz="1300" dirty="0"/>
          </a:p>
        </p:txBody>
      </p:sp>
      <p:sp>
        <p:nvSpPr>
          <p:cNvPr id="12" name="Text 9"/>
          <p:cNvSpPr/>
          <p:nvPr/>
        </p:nvSpPr>
        <p:spPr>
          <a:xfrm>
            <a:off x="1024128" y="5065776"/>
            <a:ext cx="3145536" cy="347472"/>
          </a:xfrm>
          <a:prstGeom prst="rect">
            <a:avLst/>
          </a:prstGeom>
          <a:noFill/>
          <a:ln/>
        </p:spPr>
        <p:txBody>
          <a:bodyPr wrap="square" lIns="0" tIns="0" rIns="0" bIns="0" rtlCol="0" anchor="t"/>
          <a:lstStyle/>
          <a:p>
            <a:pPr indent="0" marL="0">
              <a:buNone/>
            </a:pPr>
            <a:r>
              <a:rPr lang="en-US" sz="1000" dirty="0">
                <a:solidFill>
                  <a:srgbClr val="334155"/>
                </a:solidFill>
              </a:rPr>
              <a:t>Start with a trials question. It makes route choice and registry semantics easiest to explain.</a:t>
            </a:r>
            <a:endParaRPr lang="en-US" sz="1000" dirty="0"/>
          </a:p>
        </p:txBody>
      </p:sp>
      <p:sp>
        <p:nvSpPr>
          <p:cNvPr id="13" name="Shape 10"/>
          <p:cNvSpPr/>
          <p:nvPr/>
        </p:nvSpPr>
        <p:spPr>
          <a:xfrm>
            <a:off x="4462272" y="4590288"/>
            <a:ext cx="3419856" cy="987552"/>
          </a:xfrm>
          <a:prstGeom prst="roundRect">
            <a:avLst>
              <a:gd name="adj" fmla="val 14815"/>
            </a:avLst>
          </a:prstGeom>
          <a:solidFill>
            <a:srgbClr val="DFF6F2"/>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4" name="Shape 11"/>
          <p:cNvSpPr/>
          <p:nvPr/>
        </p:nvSpPr>
        <p:spPr>
          <a:xfrm>
            <a:off x="4498848" y="4663440"/>
            <a:ext cx="73152" cy="841248"/>
          </a:xfrm>
          <a:prstGeom prst="roundRect">
            <a:avLst>
              <a:gd name="adj" fmla="val 50000"/>
            </a:avLst>
          </a:prstGeom>
          <a:solidFill>
            <a:srgbClr val="0F766E"/>
          </a:solidFill>
          <a:ln w="12700">
            <a:solidFill>
              <a:srgbClr val="0F766E">
                <a:alpha val="0"/>
              </a:srgbClr>
            </a:solidFill>
            <a:prstDash val="solid"/>
          </a:ln>
        </p:spPr>
      </p:sp>
      <p:sp>
        <p:nvSpPr>
          <p:cNvPr id="15" name="Text 12"/>
          <p:cNvSpPr/>
          <p:nvPr/>
        </p:nvSpPr>
        <p:spPr>
          <a:xfrm>
            <a:off x="4645152" y="4736592"/>
            <a:ext cx="3145536" cy="274320"/>
          </a:xfrm>
          <a:prstGeom prst="rect">
            <a:avLst/>
          </a:prstGeom>
          <a:noFill/>
          <a:ln/>
        </p:spPr>
        <p:txBody>
          <a:bodyPr wrap="square" lIns="0" tIns="0" rIns="0" bIns="0" rtlCol="0" anchor="ctr"/>
          <a:lstStyle/>
          <a:p>
            <a:pPr indent="0" marL="0">
              <a:buNone/>
            </a:pPr>
            <a:r>
              <a:rPr lang="en-US" sz="1300" b="1" dirty="0">
                <a:solidFill>
                  <a:srgbClr val="111827"/>
                </a:solidFill>
              </a:rPr>
              <a:t>Best second click</a:t>
            </a:r>
            <a:endParaRPr lang="en-US" sz="1300" dirty="0"/>
          </a:p>
        </p:txBody>
      </p:sp>
      <p:sp>
        <p:nvSpPr>
          <p:cNvPr id="16" name="Text 13"/>
          <p:cNvSpPr/>
          <p:nvPr/>
        </p:nvSpPr>
        <p:spPr>
          <a:xfrm>
            <a:off x="4645152" y="5065776"/>
            <a:ext cx="3145536" cy="347472"/>
          </a:xfrm>
          <a:prstGeom prst="rect">
            <a:avLst/>
          </a:prstGeom>
          <a:noFill/>
          <a:ln/>
        </p:spPr>
        <p:txBody>
          <a:bodyPr wrap="square" lIns="0" tIns="0" rIns="0" bIns="0" rtlCol="0" anchor="t"/>
          <a:lstStyle/>
          <a:p>
            <a:pPr indent="0" marL="0">
              <a:buNone/>
            </a:pPr>
            <a:r>
              <a:rPr lang="en-US" sz="1000" dirty="0">
                <a:solidFill>
                  <a:srgbClr val="334155"/>
                </a:solidFill>
              </a:rPr>
              <a:t>Open a citation and show that the UI can inspect the underlying source instead of only showing a hyperlink.</a:t>
            </a:r>
            <a:endParaRPr lang="en-US" sz="1000" dirty="0"/>
          </a:p>
        </p:txBody>
      </p:sp>
      <p:sp>
        <p:nvSpPr>
          <p:cNvPr id="17" name="Shape 14"/>
          <p:cNvSpPr/>
          <p:nvPr/>
        </p:nvSpPr>
        <p:spPr>
          <a:xfrm>
            <a:off x="8083296" y="4590288"/>
            <a:ext cx="3255264" cy="987552"/>
          </a:xfrm>
          <a:prstGeom prst="roundRect">
            <a:avLst>
              <a:gd name="adj" fmla="val 14815"/>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8" name="Shape 15"/>
          <p:cNvSpPr/>
          <p:nvPr/>
        </p:nvSpPr>
        <p:spPr>
          <a:xfrm>
            <a:off x="8119872" y="4663440"/>
            <a:ext cx="73152" cy="841248"/>
          </a:xfrm>
          <a:prstGeom prst="roundRect">
            <a:avLst>
              <a:gd name="adj" fmla="val 50000"/>
            </a:avLst>
          </a:prstGeom>
          <a:solidFill>
            <a:srgbClr val="0F766E"/>
          </a:solidFill>
          <a:ln w="12700">
            <a:solidFill>
              <a:srgbClr val="0F766E">
                <a:alpha val="0"/>
              </a:srgbClr>
            </a:solidFill>
            <a:prstDash val="solid"/>
          </a:ln>
        </p:spPr>
      </p:sp>
      <p:sp>
        <p:nvSpPr>
          <p:cNvPr id="19" name="Text 16"/>
          <p:cNvSpPr/>
          <p:nvPr/>
        </p:nvSpPr>
        <p:spPr>
          <a:xfrm>
            <a:off x="8266176" y="4736592"/>
            <a:ext cx="2980944" cy="274320"/>
          </a:xfrm>
          <a:prstGeom prst="rect">
            <a:avLst/>
          </a:prstGeom>
          <a:noFill/>
          <a:ln/>
        </p:spPr>
        <p:txBody>
          <a:bodyPr wrap="square" lIns="0" tIns="0" rIns="0" bIns="0" rtlCol="0" anchor="ctr"/>
          <a:lstStyle/>
          <a:p>
            <a:pPr indent="0" marL="0">
              <a:buNone/>
            </a:pPr>
            <a:r>
              <a:rPr lang="en-US" sz="1300" b="1" dirty="0">
                <a:solidFill>
                  <a:srgbClr val="111827"/>
                </a:solidFill>
              </a:rPr>
              <a:t>Best third click</a:t>
            </a:r>
            <a:endParaRPr lang="en-US" sz="1300" dirty="0"/>
          </a:p>
        </p:txBody>
      </p:sp>
      <p:sp>
        <p:nvSpPr>
          <p:cNvPr id="20" name="Text 17"/>
          <p:cNvSpPr/>
          <p:nvPr/>
        </p:nvSpPr>
        <p:spPr>
          <a:xfrm>
            <a:off x="8266176" y="5065776"/>
            <a:ext cx="2980944" cy="347472"/>
          </a:xfrm>
          <a:prstGeom prst="rect">
            <a:avLst/>
          </a:prstGeom>
          <a:noFill/>
          <a:ln/>
        </p:spPr>
        <p:txBody>
          <a:bodyPr wrap="square" lIns="0" tIns="0" rIns="0" bIns="0" rtlCol="0" anchor="t"/>
          <a:lstStyle/>
          <a:p>
            <a:pPr indent="0" marL="0">
              <a:buNone/>
            </a:pPr>
            <a:r>
              <a:rPr lang="en-US" sz="1000" dirty="0">
                <a:solidFill>
                  <a:srgbClr val="334155"/>
                </a:solidFill>
              </a:rPr>
              <a:t>Open the trace and connect the visible stages back to the backend pipeline.</a:t>
            </a:r>
            <a:endParaRPr lang="en-US" sz="1000" dirty="0"/>
          </a:p>
        </p:txBody>
      </p:sp>
      <p:sp>
        <p:nvSpPr>
          <p:cNvPr id="21" name="Shape 18"/>
          <p:cNvSpPr/>
          <p:nvPr/>
        </p:nvSpPr>
        <p:spPr>
          <a:xfrm>
            <a:off x="749808" y="5833872"/>
            <a:ext cx="10625328" cy="420624"/>
          </a:xfrm>
          <a:prstGeom prst="roundRect">
            <a:avLst>
              <a:gd name="adj" fmla="val 30435"/>
            </a:avLst>
          </a:prstGeom>
          <a:solidFill>
            <a:srgbClr val="FFFFFF"/>
          </a:solidFill>
          <a:ln w="12700">
            <a:solidFill>
              <a:srgbClr val="CBD5E1"/>
            </a:solidFill>
            <a:prstDash val="solid"/>
          </a:ln>
        </p:spPr>
      </p:sp>
      <p:sp>
        <p:nvSpPr>
          <p:cNvPr id="22" name="Text 19"/>
          <p:cNvSpPr/>
          <p:nvPr/>
        </p:nvSpPr>
        <p:spPr>
          <a:xfrm>
            <a:off x="932688" y="5943600"/>
            <a:ext cx="749808" cy="146304"/>
          </a:xfrm>
          <a:prstGeom prst="rect">
            <a:avLst/>
          </a:prstGeom>
          <a:noFill/>
          <a:ln/>
        </p:spPr>
        <p:txBody>
          <a:bodyPr wrap="square" lIns="0" tIns="0" rIns="0" bIns="0" rtlCol="0" anchor="ctr"/>
          <a:lstStyle/>
          <a:p>
            <a:pPr indent="0" marL="0">
              <a:buNone/>
            </a:pPr>
            <a:r>
              <a:rPr lang="en-US" sz="860" b="1" dirty="0">
                <a:solidFill>
                  <a:srgbClr val="115E59"/>
                </a:solidFill>
                <a:latin typeface="Lato" pitchFamily="34" charset="0"/>
                <a:ea typeface="Lato" pitchFamily="34" charset="-122"/>
                <a:cs typeface="Lato" pitchFamily="34" charset="-120"/>
              </a:rPr>
              <a:t>Show live:</a:t>
            </a:r>
            <a:endParaRPr lang="en-US" sz="860" dirty="0"/>
          </a:p>
        </p:txBody>
      </p:sp>
      <p:sp>
        <p:nvSpPr>
          <p:cNvPr id="23" name="Text 20"/>
          <p:cNvSpPr/>
          <p:nvPr/>
        </p:nvSpPr>
        <p:spPr>
          <a:xfrm>
            <a:off x="1938528" y="5943600"/>
            <a:ext cx="9034272" cy="146304"/>
          </a:xfrm>
          <a:prstGeom prst="rect">
            <a:avLst/>
          </a:prstGeom>
          <a:noFill/>
          <a:ln/>
        </p:spPr>
        <p:txBody>
          <a:bodyPr wrap="square" lIns="0" tIns="0" rIns="0" bIns="0" rtlCol="0" anchor="ctr"/>
          <a:lstStyle/>
          <a:p>
            <a:pPr indent="0" marL="0">
              <a:buNone/>
            </a:pPr>
            <a:r>
              <a:rPr lang="en-US" sz="820" dirty="0">
                <a:solidFill>
                  <a:srgbClr val="334155"/>
                </a:solidFill>
                <a:latin typeface="DejaVu Sans Mono" pitchFamily="34" charset="0"/>
                <a:ea typeface="DejaVu Sans Mono" pitchFamily="34" charset="-122"/>
                <a:cs typeface="DejaVu Sans Mono" pitchFamily="34" charset="-120"/>
              </a:rPr>
              <a:t>frontend/src/App.tsx · qa.py · clinicaltrials.py · pubmed.py</a:t>
            </a:r>
            <a:endParaRPr lang="en-US" sz="820" dirty="0"/>
          </a:p>
        </p:txBody>
      </p:sp>
      <p:sp>
        <p:nvSpPr>
          <p:cNvPr id="24" name="Shape 21"/>
          <p:cNvSpPr/>
          <p:nvPr/>
        </p:nvSpPr>
        <p:spPr>
          <a:xfrm>
            <a:off x="640080" y="6419088"/>
            <a:ext cx="10927080" cy="0"/>
          </a:xfrm>
          <a:prstGeom prst="line">
            <a:avLst/>
          </a:prstGeom>
          <a:noFill/>
          <a:ln w="12700">
            <a:solidFill>
              <a:srgbClr val="CBD5E1"/>
            </a:solidFill>
            <a:prstDash val="solid"/>
          </a:ln>
        </p:spPr>
      </p:sp>
      <p:sp>
        <p:nvSpPr>
          <p:cNvPr id="25" name="Text 22"/>
          <p:cNvSpPr/>
          <p:nvPr/>
        </p:nvSpPr>
        <p:spPr>
          <a:xfrm>
            <a:off x="658368" y="6473952"/>
            <a:ext cx="4480560" cy="164592"/>
          </a:xfrm>
          <a:prstGeom prst="rect">
            <a:avLst/>
          </a:prstGeom>
          <a:noFill/>
          <a:ln/>
        </p:spPr>
        <p:txBody>
          <a:bodyPr wrap="square" lIns="0" tIns="0" rIns="0" bIns="0" rtlCol="0" anchor="ctr"/>
          <a:lstStyle/>
          <a:p>
            <a:pPr indent="0" marL="0">
              <a:buNone/>
            </a:pPr>
            <a:r>
              <a:rPr lang="en-US" sz="800" dirty="0">
                <a:solidFill>
                  <a:srgbClr val="64748B"/>
                </a:solidFill>
                <a:latin typeface="Lato" pitchFamily="34" charset="0"/>
                <a:ea typeface="Lato" pitchFamily="34" charset="-122"/>
                <a:cs typeface="Lato" pitchFamily="34" charset="-120"/>
              </a:rPr>
              <a:t>Slide 9 · demo flow</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5EF"/>
          </a:solidFill>
          <a:ln w="12700">
            <a:solidFill>
              <a:srgbClr val="F7F5EF"/>
            </a:solidFill>
            <a:prstDash val="solid"/>
          </a:ln>
        </p:spPr>
      </p:sp>
      <p:sp>
        <p:nvSpPr>
          <p:cNvPr id="3" name="Shape 1"/>
          <p:cNvSpPr/>
          <p:nvPr/>
        </p:nvSpPr>
        <p:spPr>
          <a:xfrm>
            <a:off x="566928" y="384048"/>
            <a:ext cx="950976" cy="73152"/>
          </a:xfrm>
          <a:prstGeom prst="roundRect">
            <a:avLst>
              <a:gd name="adj" fmla="val 50000"/>
            </a:avLst>
          </a:prstGeom>
          <a:solidFill>
            <a:srgbClr val="0F766E"/>
          </a:solidFill>
          <a:ln w="12700">
            <a:solidFill>
              <a:srgbClr val="0F766E">
                <a:alpha val="0"/>
              </a:srgbClr>
            </a:solidFill>
            <a:prstDash val="solid"/>
          </a:ln>
        </p:spPr>
      </p:sp>
      <p:sp>
        <p:nvSpPr>
          <p:cNvPr id="4" name="Text 2"/>
          <p:cNvSpPr/>
          <p:nvPr/>
        </p:nvSpPr>
        <p:spPr>
          <a:xfrm>
            <a:off x="640080" y="512064"/>
            <a:ext cx="2377440" cy="201168"/>
          </a:xfrm>
          <a:prstGeom prst="rect">
            <a:avLst/>
          </a:prstGeom>
          <a:noFill/>
          <a:ln/>
        </p:spPr>
        <p:txBody>
          <a:bodyPr wrap="square" lIns="0" tIns="0" rIns="0" bIns="0" rtlCol="0" anchor="ctr"/>
          <a:lstStyle/>
          <a:p>
            <a:pPr indent="0" marL="0">
              <a:buNone/>
            </a:pPr>
            <a:r>
              <a:rPr lang="en-US" sz="880" b="1" dirty="0">
                <a:solidFill>
                  <a:srgbClr val="0F766E"/>
                </a:solidFill>
                <a:latin typeface="Lato" pitchFamily="34" charset="0"/>
                <a:ea typeface="Lato" pitchFamily="34" charset="-122"/>
                <a:cs typeface="Lato" pitchFamily="34" charset="-120"/>
              </a:rPr>
              <a:t>CLOSING</a:t>
            </a:r>
            <a:endParaRPr lang="en-US" sz="880" dirty="0"/>
          </a:p>
        </p:txBody>
      </p:sp>
      <p:sp>
        <p:nvSpPr>
          <p:cNvPr id="5" name="Text 3"/>
          <p:cNvSpPr/>
          <p:nvPr/>
        </p:nvSpPr>
        <p:spPr>
          <a:xfrm>
            <a:off x="640080" y="768096"/>
            <a:ext cx="7498080" cy="694944"/>
          </a:xfrm>
          <a:prstGeom prst="rect">
            <a:avLst/>
          </a:prstGeom>
          <a:noFill/>
          <a:ln/>
        </p:spPr>
        <p:txBody>
          <a:bodyPr wrap="square" lIns="0" tIns="0" rIns="0" bIns="0" rtlCol="0" anchor="ctr"/>
          <a:lstStyle/>
          <a:p>
            <a:pPr indent="0" marL="0">
              <a:buNone/>
            </a:pPr>
            <a:r>
              <a:rPr lang="en-US" sz="2616" b="1" dirty="0">
                <a:solidFill>
                  <a:srgbClr val="111827"/>
                </a:solidFill>
              </a:rPr>
              <a:t>If I Had Another Week</a:t>
            </a:r>
            <a:endParaRPr lang="en-US" sz="2616" dirty="0"/>
          </a:p>
        </p:txBody>
      </p:sp>
      <p:sp>
        <p:nvSpPr>
          <p:cNvPr id="6" name="Text 4"/>
          <p:cNvSpPr/>
          <p:nvPr/>
        </p:nvSpPr>
        <p:spPr>
          <a:xfrm>
            <a:off x="676656" y="1481328"/>
            <a:ext cx="7040880" cy="310896"/>
          </a:xfrm>
          <a:prstGeom prst="rect">
            <a:avLst/>
          </a:prstGeom>
          <a:noFill/>
          <a:ln/>
        </p:spPr>
        <p:txBody>
          <a:bodyPr wrap="square" lIns="0" tIns="0" rIns="0" bIns="0" rtlCol="0" anchor="ctr"/>
          <a:lstStyle/>
          <a:p>
            <a:pPr indent="0" marL="0">
              <a:buNone/>
            </a:pPr>
            <a:r>
              <a:rPr lang="en-US" sz="1120" dirty="0">
                <a:solidFill>
                  <a:srgbClr val="334155"/>
                </a:solidFill>
              </a:rPr>
              <a:t>The next gains would come from better indexing, layered evaluation, and stronger planning for blended questions.</a:t>
            </a:r>
            <a:endParaRPr lang="en-US" sz="1120" dirty="0"/>
          </a:p>
        </p:txBody>
      </p:sp>
      <p:sp>
        <p:nvSpPr>
          <p:cNvPr id="7" name="Text 5"/>
          <p:cNvSpPr/>
          <p:nvPr/>
        </p:nvSpPr>
        <p:spPr>
          <a:xfrm>
            <a:off x="11247120" y="457200"/>
            <a:ext cx="411480" cy="201168"/>
          </a:xfrm>
          <a:prstGeom prst="rect">
            <a:avLst/>
          </a:prstGeom>
          <a:noFill/>
          <a:ln/>
        </p:spPr>
        <p:txBody>
          <a:bodyPr wrap="square" lIns="0" tIns="0" rIns="0" bIns="0" rtlCol="0" anchor="ctr"/>
          <a:lstStyle/>
          <a:p>
            <a:pPr algn="r" indent="0" marL="0">
              <a:buNone/>
            </a:pPr>
            <a:r>
              <a:rPr lang="en-US" sz="900" dirty="0">
                <a:solidFill>
                  <a:srgbClr val="64748B"/>
                </a:solidFill>
                <a:latin typeface="Lato" pitchFamily="34" charset="0"/>
                <a:ea typeface="Lato" pitchFamily="34" charset="-122"/>
                <a:cs typeface="Lato" pitchFamily="34" charset="-120"/>
              </a:rPr>
              <a:t>10</a:t>
            </a:r>
            <a:endParaRPr lang="en-US" sz="900" dirty="0"/>
          </a:p>
        </p:txBody>
      </p:sp>
      <p:sp>
        <p:nvSpPr>
          <p:cNvPr id="8" name="Shape 6"/>
          <p:cNvSpPr/>
          <p:nvPr/>
        </p:nvSpPr>
        <p:spPr>
          <a:xfrm>
            <a:off x="841248" y="1938528"/>
            <a:ext cx="3310128" cy="3547872"/>
          </a:xfrm>
          <a:prstGeom prst="roundRect">
            <a:avLst>
              <a:gd name="adj" fmla="val 4420"/>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9" name="Shape 7"/>
          <p:cNvSpPr/>
          <p:nvPr/>
        </p:nvSpPr>
        <p:spPr>
          <a:xfrm>
            <a:off x="877824" y="2011680"/>
            <a:ext cx="73152" cy="3401568"/>
          </a:xfrm>
          <a:prstGeom prst="roundRect">
            <a:avLst>
              <a:gd name="adj" fmla="val 50000"/>
            </a:avLst>
          </a:prstGeom>
          <a:solidFill>
            <a:srgbClr val="0F766E"/>
          </a:solidFill>
          <a:ln w="12700">
            <a:solidFill>
              <a:srgbClr val="0F766E">
                <a:alpha val="0"/>
              </a:srgbClr>
            </a:solidFill>
            <a:prstDash val="solid"/>
          </a:ln>
        </p:spPr>
      </p:sp>
      <p:sp>
        <p:nvSpPr>
          <p:cNvPr id="10" name="Text 8"/>
          <p:cNvSpPr/>
          <p:nvPr/>
        </p:nvSpPr>
        <p:spPr>
          <a:xfrm>
            <a:off x="1024128" y="2084832"/>
            <a:ext cx="3035808" cy="274320"/>
          </a:xfrm>
          <a:prstGeom prst="rect">
            <a:avLst/>
          </a:prstGeom>
          <a:noFill/>
          <a:ln/>
        </p:spPr>
        <p:txBody>
          <a:bodyPr wrap="square" lIns="0" tIns="0" rIns="0" bIns="0" rtlCol="0" anchor="ctr"/>
          <a:lstStyle/>
          <a:p>
            <a:pPr indent="0" marL="0">
              <a:buNone/>
            </a:pPr>
            <a:r>
              <a:rPr lang="en-US" sz="1300" b="1" dirty="0">
                <a:solidFill>
                  <a:srgbClr val="111827"/>
                </a:solidFill>
              </a:rPr>
              <a:t>1. Stronger offline indexing</a:t>
            </a:r>
            <a:endParaRPr lang="en-US" sz="1300" dirty="0"/>
          </a:p>
        </p:txBody>
      </p:sp>
      <p:sp>
        <p:nvSpPr>
          <p:cNvPr id="11" name="Text 9"/>
          <p:cNvSpPr/>
          <p:nvPr/>
        </p:nvSpPr>
        <p:spPr>
          <a:xfrm>
            <a:off x="1024128" y="2414016"/>
            <a:ext cx="3035808" cy="2907792"/>
          </a:xfrm>
          <a:prstGeom prst="rect">
            <a:avLst/>
          </a:prstGeom>
          <a:noFill/>
          <a:ln/>
        </p:spPr>
        <p:txBody>
          <a:bodyPr wrap="square" lIns="0" tIns="0" rIns="0" bIns="0" rtlCol="0" anchor="t"/>
          <a:lstStyle/>
          <a:p>
            <a:pPr indent="0" marL="0">
              <a:buNone/>
            </a:pPr>
            <a:r>
              <a:rPr lang="en-US" sz="1197" dirty="0">
                <a:solidFill>
                  <a:srgbClr val="334155"/>
                </a:solidFill>
              </a:rPr>
              <a:t>Improve latency, recall, and observability once the retrieval logic itself is stable enough to deserve heavier infrastructure.</a:t>
            </a:r>
            <a:endParaRPr lang="en-US" sz="1197" dirty="0"/>
          </a:p>
        </p:txBody>
      </p:sp>
      <p:sp>
        <p:nvSpPr>
          <p:cNvPr id="12" name="Shape 10"/>
          <p:cNvSpPr/>
          <p:nvPr/>
        </p:nvSpPr>
        <p:spPr>
          <a:xfrm>
            <a:off x="4443984" y="1938528"/>
            <a:ext cx="3310128" cy="3547872"/>
          </a:xfrm>
          <a:prstGeom prst="roundRect">
            <a:avLst>
              <a:gd name="adj" fmla="val 4420"/>
            </a:avLst>
          </a:prstGeom>
          <a:solidFill>
            <a:srgbClr val="DFF6F2"/>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3" name="Shape 11"/>
          <p:cNvSpPr/>
          <p:nvPr/>
        </p:nvSpPr>
        <p:spPr>
          <a:xfrm>
            <a:off x="4480560" y="2011680"/>
            <a:ext cx="73152" cy="3401568"/>
          </a:xfrm>
          <a:prstGeom prst="roundRect">
            <a:avLst>
              <a:gd name="adj" fmla="val 50000"/>
            </a:avLst>
          </a:prstGeom>
          <a:solidFill>
            <a:srgbClr val="0F766E"/>
          </a:solidFill>
          <a:ln w="12700">
            <a:solidFill>
              <a:srgbClr val="0F766E">
                <a:alpha val="0"/>
              </a:srgbClr>
            </a:solidFill>
            <a:prstDash val="solid"/>
          </a:ln>
        </p:spPr>
      </p:sp>
      <p:sp>
        <p:nvSpPr>
          <p:cNvPr id="14" name="Text 12"/>
          <p:cNvSpPr/>
          <p:nvPr/>
        </p:nvSpPr>
        <p:spPr>
          <a:xfrm>
            <a:off x="4626864" y="2084832"/>
            <a:ext cx="3035808" cy="274320"/>
          </a:xfrm>
          <a:prstGeom prst="rect">
            <a:avLst/>
          </a:prstGeom>
          <a:noFill/>
          <a:ln/>
        </p:spPr>
        <p:txBody>
          <a:bodyPr wrap="square" lIns="0" tIns="0" rIns="0" bIns="0" rtlCol="0" anchor="ctr"/>
          <a:lstStyle/>
          <a:p>
            <a:pPr indent="0" marL="0">
              <a:buNone/>
            </a:pPr>
            <a:r>
              <a:rPr lang="en-US" sz="1300" b="1" dirty="0">
                <a:solidFill>
                  <a:srgbClr val="111827"/>
                </a:solidFill>
              </a:rPr>
              <a:t>2. Layered evaluation</a:t>
            </a:r>
            <a:endParaRPr lang="en-US" sz="1300" dirty="0"/>
          </a:p>
        </p:txBody>
      </p:sp>
      <p:sp>
        <p:nvSpPr>
          <p:cNvPr id="15" name="Text 13"/>
          <p:cNvSpPr/>
          <p:nvPr/>
        </p:nvSpPr>
        <p:spPr>
          <a:xfrm>
            <a:off x="4626864" y="2414016"/>
            <a:ext cx="3035808" cy="2907792"/>
          </a:xfrm>
          <a:prstGeom prst="rect">
            <a:avLst/>
          </a:prstGeom>
          <a:noFill/>
          <a:ln/>
        </p:spPr>
        <p:txBody>
          <a:bodyPr wrap="square" lIns="0" tIns="0" rIns="0" bIns="0" rtlCol="0" anchor="t"/>
          <a:lstStyle/>
          <a:p>
            <a:pPr indent="0" marL="0">
              <a:buNone/>
            </a:pPr>
            <a:r>
              <a:rPr lang="en-US" sz="1197" dirty="0">
                <a:solidFill>
                  <a:srgbClr val="334155"/>
                </a:solidFill>
              </a:rPr>
              <a:t>Evaluate route quality, source retrieval, snippet relevance, citation validity, and final answer usefulness separately instead of using only one end metric.</a:t>
            </a:r>
            <a:endParaRPr lang="en-US" sz="1197" dirty="0"/>
          </a:p>
        </p:txBody>
      </p:sp>
      <p:sp>
        <p:nvSpPr>
          <p:cNvPr id="16" name="Shape 14"/>
          <p:cNvSpPr/>
          <p:nvPr/>
        </p:nvSpPr>
        <p:spPr>
          <a:xfrm>
            <a:off x="8046720" y="1938528"/>
            <a:ext cx="3310128" cy="3547872"/>
          </a:xfrm>
          <a:prstGeom prst="roundRect">
            <a:avLst>
              <a:gd name="adj" fmla="val 4420"/>
            </a:avLst>
          </a:prstGeom>
          <a:solidFill>
            <a:srgbClr val="FFFFFF"/>
          </a:solidFill>
          <a:ln w="14605">
            <a:solidFill>
              <a:srgbClr val="CBD5E1"/>
            </a:solidFill>
            <a:prstDash val="solid"/>
          </a:ln>
          <a:effectLst>
            <a:outerShdw sx="100000" sy="100000" kx="0" ky="0" algn="bl" rotWithShape="0" blurRad="19050" dist="12700" dir="2700000">
              <a:srgbClr val="000000">
                <a:alpha val="7000"/>
              </a:srgbClr>
            </a:outerShdw>
          </a:effectLst>
        </p:spPr>
      </p:sp>
      <p:sp>
        <p:nvSpPr>
          <p:cNvPr id="17" name="Shape 15"/>
          <p:cNvSpPr/>
          <p:nvPr/>
        </p:nvSpPr>
        <p:spPr>
          <a:xfrm>
            <a:off x="8083296" y="2011680"/>
            <a:ext cx="73152" cy="3401568"/>
          </a:xfrm>
          <a:prstGeom prst="roundRect">
            <a:avLst>
              <a:gd name="adj" fmla="val 50000"/>
            </a:avLst>
          </a:prstGeom>
          <a:solidFill>
            <a:srgbClr val="0F766E"/>
          </a:solidFill>
          <a:ln w="12700">
            <a:solidFill>
              <a:srgbClr val="0F766E">
                <a:alpha val="0"/>
              </a:srgbClr>
            </a:solidFill>
            <a:prstDash val="solid"/>
          </a:ln>
        </p:spPr>
      </p:sp>
      <p:sp>
        <p:nvSpPr>
          <p:cNvPr id="18" name="Text 16"/>
          <p:cNvSpPr/>
          <p:nvPr/>
        </p:nvSpPr>
        <p:spPr>
          <a:xfrm>
            <a:off x="8229600" y="2084832"/>
            <a:ext cx="3035808" cy="274320"/>
          </a:xfrm>
          <a:prstGeom prst="rect">
            <a:avLst/>
          </a:prstGeom>
          <a:noFill/>
          <a:ln/>
        </p:spPr>
        <p:txBody>
          <a:bodyPr wrap="square" lIns="0" tIns="0" rIns="0" bIns="0" rtlCol="0" anchor="ctr"/>
          <a:lstStyle/>
          <a:p>
            <a:pPr indent="0" marL="0">
              <a:buNone/>
            </a:pPr>
            <a:r>
              <a:rPr lang="en-US" sz="1300" b="1" dirty="0">
                <a:solidFill>
                  <a:srgbClr val="111827"/>
                </a:solidFill>
              </a:rPr>
              <a:t>3. Better blended planning</a:t>
            </a:r>
            <a:endParaRPr lang="en-US" sz="1300" dirty="0"/>
          </a:p>
        </p:txBody>
      </p:sp>
      <p:sp>
        <p:nvSpPr>
          <p:cNvPr id="19" name="Text 17"/>
          <p:cNvSpPr/>
          <p:nvPr/>
        </p:nvSpPr>
        <p:spPr>
          <a:xfrm>
            <a:off x="8229600" y="2414016"/>
            <a:ext cx="3035808" cy="2907792"/>
          </a:xfrm>
          <a:prstGeom prst="rect">
            <a:avLst/>
          </a:prstGeom>
          <a:noFill/>
          <a:ln/>
        </p:spPr>
        <p:txBody>
          <a:bodyPr wrap="square" lIns="0" tIns="0" rIns="0" bIns="0" rtlCol="0" anchor="t"/>
          <a:lstStyle/>
          <a:p>
            <a:pPr indent="0" marL="0">
              <a:buNone/>
            </a:pPr>
            <a:r>
              <a:rPr lang="en-US" sz="1197" dirty="0">
                <a:solidFill>
                  <a:srgbClr val="334155"/>
                </a:solidFill>
              </a:rPr>
              <a:t>The hardest open problem is not a single-source question. It is balancing trial evidence and published literature in one coherent answer.</a:t>
            </a:r>
            <a:endParaRPr lang="en-US" sz="1197" dirty="0"/>
          </a:p>
        </p:txBody>
      </p:sp>
      <p:sp>
        <p:nvSpPr>
          <p:cNvPr id="20" name="Shape 18"/>
          <p:cNvSpPr/>
          <p:nvPr/>
        </p:nvSpPr>
        <p:spPr>
          <a:xfrm>
            <a:off x="841248" y="5687568"/>
            <a:ext cx="10497312" cy="512064"/>
          </a:xfrm>
          <a:prstGeom prst="roundRect">
            <a:avLst>
              <a:gd name="adj" fmla="val 28571"/>
            </a:avLst>
          </a:prstGeom>
          <a:solidFill>
            <a:srgbClr val="115E59"/>
          </a:solidFill>
          <a:ln w="12700">
            <a:solidFill>
              <a:srgbClr val="115E59">
                <a:alpha val="0"/>
              </a:srgbClr>
            </a:solidFill>
            <a:prstDash val="solid"/>
          </a:ln>
        </p:spPr>
      </p:sp>
      <p:sp>
        <p:nvSpPr>
          <p:cNvPr id="21" name="Text 19"/>
          <p:cNvSpPr/>
          <p:nvPr/>
        </p:nvSpPr>
        <p:spPr>
          <a:xfrm>
            <a:off x="1097280" y="5843016"/>
            <a:ext cx="10003536" cy="164592"/>
          </a:xfrm>
          <a:prstGeom prst="rect">
            <a:avLst/>
          </a:prstGeom>
          <a:noFill/>
          <a:ln/>
        </p:spPr>
        <p:txBody>
          <a:bodyPr wrap="square" lIns="0" tIns="0" rIns="0" bIns="0" rtlCol="0" anchor="ctr"/>
          <a:lstStyle/>
          <a:p>
            <a:pPr algn="ctr" indent="0" marL="0">
              <a:buNone/>
            </a:pPr>
            <a:r>
              <a:rPr lang="en-US" sz="1200" b="1" dirty="0">
                <a:solidFill>
                  <a:srgbClr val="FFFFFF"/>
                </a:solidFill>
              </a:rPr>
              <a:t>The model is not the source of truth. The retrieved evidence is.</a:t>
            </a:r>
            <a:endParaRPr lang="en-US" sz="1200" dirty="0"/>
          </a:p>
        </p:txBody>
      </p:sp>
      <p:sp>
        <p:nvSpPr>
          <p:cNvPr id="22" name="Shape 20"/>
          <p:cNvSpPr/>
          <p:nvPr/>
        </p:nvSpPr>
        <p:spPr>
          <a:xfrm>
            <a:off x="640080" y="6419088"/>
            <a:ext cx="10927080" cy="0"/>
          </a:xfrm>
          <a:prstGeom prst="line">
            <a:avLst/>
          </a:prstGeom>
          <a:noFill/>
          <a:ln w="12700">
            <a:solidFill>
              <a:srgbClr val="CBD5E1"/>
            </a:solidFill>
            <a:prstDash val="solid"/>
          </a:ln>
        </p:spPr>
      </p:sp>
      <p:sp>
        <p:nvSpPr>
          <p:cNvPr id="23" name="Text 21"/>
          <p:cNvSpPr/>
          <p:nvPr/>
        </p:nvSpPr>
        <p:spPr>
          <a:xfrm>
            <a:off x="658368" y="6473952"/>
            <a:ext cx="4480560" cy="164592"/>
          </a:xfrm>
          <a:prstGeom prst="rect">
            <a:avLst/>
          </a:prstGeom>
          <a:noFill/>
          <a:ln/>
        </p:spPr>
        <p:txBody>
          <a:bodyPr wrap="square" lIns="0" tIns="0" rIns="0" bIns="0" rtlCol="0" anchor="ctr"/>
          <a:lstStyle/>
          <a:p>
            <a:pPr indent="0" marL="0">
              <a:buNone/>
            </a:pPr>
            <a:r>
              <a:rPr lang="en-US" sz="800" dirty="0">
                <a:solidFill>
                  <a:srgbClr val="64748B"/>
                </a:solidFill>
                <a:latin typeface="Lato" pitchFamily="34" charset="0"/>
                <a:ea typeface="Lato" pitchFamily="34" charset="-122"/>
                <a:cs typeface="Lato" pitchFamily="34" charset="-120"/>
              </a:rPr>
              <a:t>Slide 10 · next steps and closing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a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Clinical QA PPT plus demo presentation</dc:title>
  <dc:subject>Clinical QA interview deck from the PPT plus demo runbook</dc:subject>
  <dc:creator>OpenAI Codex</dc:creator>
  <cp:lastModifiedBy>OpenAI Codex</cp:lastModifiedBy>
  <cp:revision>1</cp:revision>
  <dcterms:created xsi:type="dcterms:W3CDTF">2026-04-05T10:02:36Z</dcterms:created>
  <dcterms:modified xsi:type="dcterms:W3CDTF">2026-04-05T10:02:36Z</dcterms:modified>
</cp:coreProperties>
</file>